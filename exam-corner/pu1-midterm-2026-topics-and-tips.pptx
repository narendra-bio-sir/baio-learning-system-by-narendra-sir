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229fbdab-c3a8-da75-9edd-5912b9098b99}">
          <p14:sldIdLst>
            <p14:sldId id="256"/>
            <p14:sldId id="257"/>
            <p14:sldId id="258"/>
          </p14:sldIdLst>
        </p14:section>
        <p14:section name="Topics to practise" id="{159292c8-c8cc-361e-ed38-dfc981ab04b7}">
          <p14:sldIdLst>
            <p14:sldId id="259"/>
            <p14:sldId id="260"/>
            <p14:sldId id="261"/>
            <p14:sldId id="262"/>
            <p14:sldId id="263"/>
            <p14:sldId id="264"/>
            <p14:sldId id="265"/>
          </p14:sldIdLst>
        </p14:section>
        <p14:section name="Tips to score high" id="{3995aca3-89af-97cd-3033-4073f7bd47b7}">
          <p14:sldIdLst>
            <p14:sldId id="266"/>
            <p14:sldId id="267"/>
            <p14:sldId id="268"/>
            <p14:sldId id="269"/>
            <p14:sldId id="270"/>
            <p14:sldId id="271"/>
          </p14:sldIdLst>
        </p14:section>
        <p14:section name="Close" id="{69359046-0191-dd2e-b055-9d06a98b640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A5568"/>
                </a:solidFill>
                <a:latin typeface="+mn-lt"/>
              </a:defRPr>
            </a:pPr>
            <a:r>
              <a:rPr sz="1300" b="0" i="0" u="none" strike="noStrike">
                <a:solidFill>
                  <a:srgbClr val="4A5568"/>
                </a:solidFill>
                <a:latin typeface="+mn-lt"/>
              </a:rPr>
              <a:t>Marks asked per chapter (incl. choice questions)</a:t>
            </a:r>
          </a:p>
        </c:rich>
      </c:tx>
      <c:layout/>
      <c:overlay val="0"/>
    </c:title>
    <c:autoTitleDeleted val="0"/>
    <c:plotArea>
      <c:layout/>
      <c:barChart>
        <c:barDir val="bar"/>
        <c:grouping val="clustered"/>
        <c:varyColors val="0"/>
        <c:ser>
          <c:idx val="0"/>
          <c:order val="0"/>
          <c:tx>
            <c:strRef>
              <c:f>Sheet1!$B$1</c:f>
              <c:strCache>
                <c:ptCount val="1"/>
                <c:pt idx="0">
                  <c:v>Marks asked</c:v>
                </c:pt>
              </c:strCache>
            </c:strRef>
          </c:tx>
          <c:spPr>
            <a:solidFill>
              <a:srgbClr val="0B8F80"/>
            </a:solidFill>
            <a:effectLst/>
          </c:spPr>
          <c:invertIfNegative val="0"/>
          <c:dLbls>
            <c:numFmt formatCode="#,##0" sourceLinked="0"/>
            <c:txPr>
              <a:bodyPr/>
              <a:lstStyle/>
              <a:p>
                <a:pPr>
                  <a:defRPr b="1" i="0" strike="noStrike" sz="1200" u="none">
                    <a:solidFill>
                      <a:srgbClr val="0C1830"/>
                    </a:solidFill>
                    <a:latin typeface="+mn-lt"/>
                  </a:defRPr>
                </a:pPr>
              </a:p>
            </c:txPr>
            <c:showLegendKey val="0"/>
            <c:showVal val="1"/>
            <c:showCatName val="0"/>
            <c:showSerName val="0"/>
            <c:showPercent val="0"/>
            <c:showBubbleSize val="0"/>
            <c:showLeaderLines val="0"/>
          </c:dLbls>
          <c:cat>
            <c:multiLvlStrRef>
              <c:f>Sheet1!$A$2:$A$11</c:f>
              <c:multiLvlStrCache>
                <c:ptCount val="10"/>
                <c:lvl>
                  <c:pt idx="0">
                    <c:v>Structural Org. in Animals</c:v>
                  </c:pt>
                  <c:pt idx="1">
                    <c:v>The Living World</c:v>
                  </c:pt>
                  <c:pt idx="2">
                    <c:v>Anatomy</c:v>
                  </c:pt>
                  <c:pt idx="3">
                    <c:v>Plant Kingdom</c:v>
                  </c:pt>
                  <c:pt idx="4">
                    <c:v>Biological Classification</c:v>
                  </c:pt>
                  <c:pt idx="5">
                    <c:v>Morphology</c:v>
                  </c:pt>
                  <c:pt idx="6">
                    <c:v>Cell Cycle</c:v>
                  </c:pt>
                  <c:pt idx="7">
                    <c:v>Biomolecules</c:v>
                  </c:pt>
                  <c:pt idx="8">
                    <c:v>Animal Kingdom</c:v>
                  </c:pt>
                  <c:pt idx="9">
                    <c:v>Cell: Unit of Life</c:v>
                  </c:pt>
                </c:lvl>
              </c:multiLvlStrCache>
            </c:multiLvlStrRef>
          </c:cat>
          <c:val>
            <c:numRef>
              <c:f>Sheet1!$B$2:$B$11</c:f>
              <c:numCache>
                <c:formatCode>General</c:formatCode>
                <c:ptCount val="10"/>
                <c:pt idx="0">
                  <c:v>4</c:v>
                </c:pt>
                <c:pt idx="1">
                  <c:v>4</c:v>
                </c:pt>
                <c:pt idx="2">
                  <c:v>5</c:v>
                </c:pt>
                <c:pt idx="3">
                  <c:v>10</c:v>
                </c:pt>
                <c:pt idx="4">
                  <c:v>10</c:v>
                </c:pt>
                <c:pt idx="5">
                  <c:v>11</c:v>
                </c:pt>
                <c:pt idx="6">
                  <c:v>12</c:v>
                </c:pt>
                <c:pt idx="7">
                  <c:v>12</c:v>
                </c:pt>
                <c:pt idx="8">
                  <c:v>16</c:v>
                </c:pt>
                <c:pt idx="9">
                  <c:v>21</c:v>
                </c:pt>
              </c:numCache>
            </c:numRef>
          </c:val>
        </c:ser>
        <c:dLbls>
          <c:numFmt formatCode="#,##0" sourceLinked="0"/>
          <c:txPr>
            <a:bodyPr/>
            <a:lstStyle/>
            <a:p>
              <a:pPr>
                <a:defRPr b="1" i="0" strike="noStrike" sz="1200" u="none">
                  <a:solidFill>
                    <a:srgbClr val="0C18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C1830"/>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Hello students. I'm Narendra Sir. In this session we will look at the important topics from the first year P U C Biology mid-term paper, chapter by chapter, and I will share simple tips that help you score high marks. Keep a notebook ready and mark the topics you still need to revise.
ಕನ್ನಡ (KANNADA)
ನಮಸ್ಕಾರ ವಿದ್ಯಾರ್ಥಿಗಳೇ. ನಾನು ನರೇಂದ್ರ ಸರ್. ಈ ಅವಧಿಯಲ್ಲಿ ಪ್ರಥಮ ಪಿಯುಸಿ ಜೀವಶಾಸ್ತ್ರ ಮಧ್ಯಾವಧಿ ಪ್ರಶ್ನೆಪತ್ರಿಕೆಯ ಪ್ರಮುಖ ವಿಷಯಗಳನ್ನು ಅಧ್ಯಾಯವಾರು ನೋಡೋಣ. ಹೆಚ್ಚು ಅಂಕ ಗಳಿಸಲು ಸಹಾಯ ಮಾಡುವ ಸರಳ ಸಲಹೆಗಳನ್ನೂ ನೀಡುತ್ತೇನೆ. ಒಂದು ನೋಟ್‌ಬುಕ್ ಇಟ್ಟುಕೊಂಡು, ಇನ್ನೂ ಪುನರಾವರ್ತಿಸಬೇಕಾದ ವಿಷಯಗಳನ್ನು ಗುರುತು ಮಾಡಿಕೊಳ್ಳಿ.
हिंदी (HINDI)
नमस्ते विद्यार्थियों। मैं नरेंद्र सर हूँ। इस सत्र में हम प्रथम पीयूसी जीव विज्ञान मध्यावधि प्रश्नपत्र के महत्वपूर्ण विषयों को अध्यायवार देखेंगे। साथ ही, अधिक अंक पाने में मदद करने वाले आसान सुझाव भी बताऊँगा। एक नोटबुक साथ रखें और जिन विषयों को अभी दोहराना बाकी है, उन्हें चिह्नित करें।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First, understand the pattern. The paper is for 70 marks. Part A has 15 multiple choice questions and 5 fill in the blanks, one mark each. Part B asks you to answer any five of seven two-mark questions. Part C asks any five of seven three-mark questions. Part D has five-mark questions: any four of seven in section five, and any one of three in section six. Because you get choices, you can skip a few topics, but you cannot skip whole chapters.
ಕನ್ನಡ (KANNADA)
ಮೊದಲು ಪ್ರಶ್ನೆಪತ್ರಿಕೆಯ ಮಾದರಿಯನ್ನು ಅರ್ಥಮಾಡಿಕೊಳ್ಳಿ. ಪತ್ರಿಕೆ 70 ಅಂಕಗಳದ್ದು. ಭಾಗ ಎ ಯಲ್ಲಿ 15 ಬಹು ಆಯ್ಕೆ ಪ್ರಶ್ನೆಗಳು ಮತ್ತು 5 ಬಿಟ್ಟ ಸ್ಥಳ ತುಂಬುವ ಪ್ರಶ್ನೆಗಳು, ತಲಾ ಒಂದು ಅಂಕ. ಭಾಗ ಬಿ ಯಲ್ಲಿ ಏಳರಲ್ಲಿ ಯಾವುದಾದರೂ ಐದು ಎರಡು ಅಂಕದ ಪ್ರಶ್ನೆಗಳು. ಭಾಗ ಸಿ ಯಲ್ಲಿ ಏಳರಲ್ಲಿ ಐದು ಮೂರು ಅಂಕದ ಪ್ರಶ್ನೆಗಳು. ಭಾಗ ಡಿ ಯಲ್ಲಿ ಐದು ಅಂಕದ ಪ್ರಶ್ನೆಗಳು: ಐದನೇ ವಿಭಾಗದಲ್ಲಿ ಏಳರಲ್ಲಿ ನಾಲ್ಕು, ಆರನೇ ವಿಭಾಗದಲ್ಲಿ ಮೂರರಲ್ಲಿ ಒಂದು. ಆಯ್ಕೆ ಇರುವುದರಿಂದ ಕೆಲವು ವಿಷಯಗಳನ್ನು ಬಿಡಬಹುದು, ಆದರೆ ಸಂಪೂರ್ಣ ಅಧ್ಯಾಯವನ್ನು ಬಿಡಬಾರದು.
हिंदी (HINDI)
पहले प्रश्नपत्र का पैटर्न समझिए। पेपर 70 अंकों का है। भाग ए में 15 बहुविकल्पीय प्रश्न और 5 रिक्त स्थान, हर एक का एक अंक। भाग बी में सात में से कोई पाँच दो अंक वाले प्रश्न। भाग सी में सात में से कोई पाँच तीन अंक वाले प्रश्न। भाग डी में पाँच अंक वाले प्रश्न हैं: खंड पाँच में सात में से कोई चार, और खंड छह में तीन में से कोई एक। विकल्प मिलने से आप कुछ विषय छोड़ सकते हैं, लेकिन पूरा अध्याय नहीं छोड़ सकते।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This chart shows how many marks were asked from each chapter, counting the choice questions too. Cell: The Unit of Life is the biggest with 21 marks. Animal Kingdom follows with 16, then Biomolecules and Cell Cycle with 12 each. These four chapters together give 61 of the 105 marks asked, so study them first and study them deeply. Structural Organisation in Animals, the frog, adds 4 more marks.
ಕನ್ನಡ (KANNADA)
ಪ್ರತಿ ಅಧ್ಯಾಯದಿಂದ ಎಷ್ಟು ಅಂಕಗಳ ಪ್ರಶ್ನೆ ಕೇಳಲಾಗಿದೆ ಎಂಬುದನ್ನು ಈ ಚಾರ್ಟ್ ತೋರಿಸುತ್ತದೆ, ಆಯ್ಕೆ ಪ್ರಶ್ನೆಗಳನ್ನೂ ಸೇರಿಸಿ. ಜೀವಕೋಶ: ಜೀವದ ಘಟಕ ಅಧ್ಯಾಯದಿಂದ ಅತಿ ಹೆಚ್ಚು, 21 ಅಂಕಗಳು. ನಂತರ ಪ್ರಾಣಿ ಸಾಮ್ರಾಜ್ಯ 16, ಜೈವಿಕ ಅಣುಗಳು ಮತ್ತು ಜೀವಕೋಶ ಚಕ್ರ ತಲಾ 12. ಈ ನಾಲ್ಕು ಅಧ್ಯಾಯಗಳು ಒಟ್ಟು 105 ರಲ್ಲಿ 61 ಅಂಕಗಳನ್ನು ನೀಡುತ್ತವೆ. ಆದ್ದರಿಂದ ಇವುಗಳನ್ನು ಮೊದಲು ಮತ್ತು ಆಳವಾಗಿ ಓದಿ. ಪ್ರಾಣಿಗಳ ರಚನಾತ್ಮಕ ಸಂಘಟನೆ, ಅಂದರೆ ಕಪ್ಪೆ, ಇನ್ನೂ 4 ಅಂಕಗಳನ್ನು ನೀಡುತ್ತದೆ.
हिंदी (HINDI)
यह चार्ट दिखाता है कि हर अध्याय से कितने अंकों के प्रश्न पूछे गए, विकल्प वाले प्रश्नों सहित। कोशिका: जीवन की इकाई सबसे बड़ा है, 21 अंक। उसके बाद प्राणी जगत 16, फिर जैव अणु और कोशिका चक्र 12-12। ये चार अध्याय मिलकर 105 में से 61 अंक देते हैं, इसलिए इन्हें सबसे पहले और गहराई से पढ़िए। प्राणियों में संरचनात्मक संगठन, यानी मेंढक, से 4 अंक और आते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Chapters one and two. Learn binomial nomenclature and the rules for writing scientific names: the genus starts with a capital letter, the species with a small letter, and both are underlined when handwritten. Know that species is the basic unit of classification. From Biological Classification, prepare Whittaker's five kingdom classification with its merits and demerits, the features of Kingdom Monera, and Kingdom Fungi, including the chitin cell wall and fungal plant diseases.
ಕನ್ನಡ (KANNADA)
ಅಧ್ಯಾಯ ಒಂದು ಮತ್ತು ಎರಡು. ದ್ವಿನಾಮ ನಾಮಕರಣ ಮತ್ತು ವೈಜ್ಞಾನಿಕ ಹೆಸರು ಬರೆಯುವ ನಿಯಮಗಳನ್ನು ಕಲಿಯಿರಿ: ಕುಲದ ಹೆಸರು ದೊಡ್ಡ ಅಕ್ಷರದಿಂದ, ಪ್ರಭೇದದ ಹೆಸರು ಸಣ್ಣ ಅಕ್ಷರದಿಂದ ಆರಂಭ, ಕೈಬರಹದಲ್ಲಿ ಎರಡಕ್ಕೂ ಅಡಿಗೆರೆ. ವರ್ಗೀಕರಣದ ಮೂಲ ಘಟಕ ಪ್ರಭೇದ ಎಂದು ತಿಳಿಯಿರಿ. ಜೈವಿಕ ವರ್ಗೀಕರಣದಿಂದ ವಿಟ್ಟೇಕರ್ ಅವರ ಐದು ಸಾಮ್ರಾಜ್ಯ ವರ್ಗೀಕರಣ, ಅದರ ಗುಣ ಮತ್ತು ದೋಷಗಳು, ಮೊನೆರಾ ಸಾಮ್ರಾಜ್ಯದ ಲಕ್ಷಣಗಳು, ಹಾಗೂ ಶಿಲೀಂಧ್ರ ಸಾಮ್ರಾಜ್ಯವನ್ನು ಸಿದ್ಧಪಡಿಸಿ. ಕೈಟಿನ್ ಕೋಶಭಿತ್ತಿ ಮತ್ತು ಶಿಲೀಂಧ್ರದಿಂದ ಬರುವ ಸಸ್ಯ ರೋಗಗಳನ್ನೂ ನೆನಪಿಡಿ.
हिंदी (HINDI)
अध्याय एक और दो। द्विनाम पद्धति और वैज्ञानिक नाम लिखने के नियम सीखिए: वंश का नाम बड़े अक्षर से, जाति का नाम छोटे अक्षर से, और हाथ से लिखते समय दोनों के नीचे रेखा। जानिए कि वर्गीकरण की मूल इकाई जाति है। जैविक वर्गीकरण से व्हिटेकर का पाँच जगत वर्गीकरण, उसके गुण और दोष, मोनेरा जगत की विशेषताएँ, और कवक जगत तैयार कीजिए, जिसमें काइटिन कोशिका भित्ति और कवक से होने वाले पादप रोग शामिल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Plant Kingdom. The most valuable topic here is the classes of algae: Chlorophyceae, Phaeophyceae and Rhodophyceae. For each class, learn the common name, major pigments, stored food and cell wall. A single table can bring you five marks. Also learn the economic importance of algae, with Chlorella as a protein-rich food, the features of bryophytes, called the amphibians of the plant kingdom, and gymnosperms, where Ginkgo is a living fossil.
ಕನ್ನಡ (KANNADA)
ಸಸ್ಯ ಸಾಮ್ರಾಜ್ಯ. ಇಲ್ಲಿ ಅತ್ಯಂತ ಮುಖ್ಯ ವಿಷಯ ಶೈವಲಗಳ ವರ್ಗಗಳು: ಕ್ಲೋರೋಫೈಸಿ, ಫಿಯೋಫೈಸಿ ಮತ್ತು ರೋಡೋಫೈಸಿ. ಪ್ರತಿ ವರ್ಗದ ಸಾಮಾನ್ಯ ಹೆಸರು, ಪ್ರಮುಖ ವರ್ಣದ್ರವ್ಯಗಳು, ಸಂಗ್ರಹಿತ ಆಹಾರ ಮತ್ತು ಕೋಶಭಿತ್ತಿಯನ್ನು ಕಲಿಯಿರಿ. ಒಂದೇ ಕೋಷ್ಟಕ ಐದು ಅಂಕ ತಂದುಕೊಡಬಹುದು. ಶೈವಲಗಳ ಆರ್ಥಿಕ ಮಹತ್ವ, ಪ್ರೋಟೀನ್ ಸಮೃದ್ಧ ಆಹಾರವಾದ ಕ್ಲೋರೆಲ್ಲಾ, ಸಸ್ಯ ಸಾಮ್ರಾಜ್ಯದ ಉಭಯಚರಗಳೆಂದು ಕರೆಯುವ ಬ್ರಯೋಫೈಟ್‌ಗಳು, ಮತ್ತು ಜೀವಂತ ಪಳೆಯುಳಿಕೆ ಗಿಂಕ್ಗೊ ಇರುವ ಅನಾವೃತಬೀಜಿಗಳನ್ನೂ ಓದಿ.
हिंदी (HINDI)
पादप जगत। यहाँ सबसे महत्वपूर्ण विषय शैवाल के वर्ग हैं: क्लोरोफाइसी, फियोफाइसी और रोडोफाइसी। हर वर्ग का सामान्य नाम, मुख्य वर्णक, संचित भोजन और कोशिका भित्ति सीखिए। एक ही तालिका आपको पाँच अंक दिला सकती है। शैवाल का आर्थिक महत्व, प्रोटीन से भरपूर क्लोरेला, पादप जगत के उभयचर कहे जाने वाले ब्रायोफाइट, और अनावृतबीजी जिनमें गिंकगो जीवित जीवाश्म है, ये भी पढ़िए।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Animal Kingdom carries 16 marks. For every phylum, remember three key features and two examples: Porifera, Ctenophora, Arthropoda, Mollusca, Echinodermata, Hemichordata and Chordata. The paper gives you features and asks you to name the phylum, so practise in both directions. Also prepare differences between chordates and non-chordates, and the characters of Class Mammalia. Remember: mammals are warm-blooded, so poikilothermous is not a mammalian character. From Structural Organisation in Animals, 4 marks, learn the frog: hibernation is its winter sleep, aestivation its summer sleep, and practise the labelled diagram of its digestive system.
ಕನ್ನಡ (KANNADA)
ಪ್ರಾಣಿ ಸಾಮ್ರಾಜ್ಯಕ್ಕೆ 16 ಅಂಕಗಳು. ಪ್ರತಿ ವಂಶಕ್ಕೆ ಮೂರು ಪ್ರಮುಖ ಲಕ್ಷಣಗಳು ಮತ್ತು ಎರಡು ಉದಾಹರಣೆಗಳನ್ನು ನೆನಪಿಡಿ: ಪೊರಿಫೆರಾ, ಟೀನೋಫೊರಾ, ಆರ್ತ್ರೋಪೋಡಾ, ಮೊಲಸ್ಕಾ, ಎಕೈನೋಡರ್ಮೇಟಾ, ಹೆಮಿಕಾರ್ಡೇಟಾ ಮತ್ತು ಕಾರ್ಡೇಟಾ. ಪ್ರಶ್ನೆಪತ್ರಿಕೆ ಲಕ್ಷಣಗಳನ್ನು ಕೊಟ್ಟು ವಂಶದ ಹೆಸರು ಕೇಳುತ್ತದೆ, ಆದ್ದರಿಂದ ಎರಡೂ ದಿಕ್ಕಿನಲ್ಲಿ ಅಭ್ಯಾಸ ಮಾಡಿ. ಕಾರ್ಡೇಟ್ ಮತ್ತು ಅಕಾರ್ಡೇಟ್‌ಗಳ ವ್ಯತ್ಯಾಸಗಳು ಹಾಗೂ ಸಸ್ತನಿ ವರ್ಗದ ಲಕ್ಷಣಗಳನ್ನು ಸಿದ್ಧಪಡಿಸಿ. ನೆನಪಿಡಿ: ಸಸ್ತನಿಗಳು ಉಷ್ಣರಕ್ತ ಪ್ರಾಣಿಗಳು. ಪ್ರಾಣಿಗಳ ರಚನಾತ್ಮಕ ಸಂಘಟನೆಯಿಂದ, 4 ಅಂಕಗಳು, ಕಪ್ಪೆಯನ್ನು ಕಲಿಯಿರಿ: ಹೈಬರ್ನೇಶನ್ ಚಳಿಗಾಲದ ನಿದ್ರೆ, ಈಸ್ಟಿವೇಶನ್ ಬೇಸಿಗೆಯ ನಿದ್ರೆ; ಕಪ್ಪೆಯ ಜೀರ್ಣಾಂಗ ವ್ಯವಸ್ಥೆಯ ಹೆಸರಿಸಿದ ಚಿತ್ರವನ್ನು ಅಭ್ಯಾಸ ಮಾಡಿ.
हिंदी (HINDI)
प्राणी जगत में 16 अंक हैं। हर संघ की तीन मुख्य विशेषताएँ और दो उदाहरण याद रखिए: पोरीफेरा, टीनोफोरा, आर्थ्रोपोडा, मोलस्का, इकाइनोडर्मेटा, हेमीकॉर्डेटा और कॉर्डेटा। पेपर विशेषताएँ देकर संघ का नाम पूछता है, इसलिए दोनों तरफ से अभ्यास कीजिए। कॉर्डेट और नॉन-कॉर्डेट के अंतर, और स्तनधारी वर्ग की विशेषताएँ भी तैयार कीजिए। याद रखिए: स्तनधारी नियततापी होते हैं। प्राणियों में संरचनात्मक संगठन से, 4 अंक, मेंढक पढ़िए: शीतनिद्रा सर्दियों की नींद है और ग्रीष्मनिद्रा गर्मियों की नींद; मेंढक के पाचन तंत्र का नामांकित चित्र अभ्यास कीजिए।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Morphology and Anatomy of flowering plants. Learn the five types of placentation with an example for each: marginal in pea, axile in tomato and lemon, parietal in mustard, free central in Dianthus, and basal in sunflower. Learn the types of phyllotaxy and venation, and remember that the edible part of mango is the mesocarp. From anatomy, prepare the epidermal tissue system with stomata, guard cells and root hairs, and the differences between open and closed vascular bundles.
ಕನ್ನಡ (KANNADA)
ಆವೃತಬೀಜ ಸಸ್ಯಗಳ ರೂಪವಿಜ್ಞಾನ ಮತ್ತು ಅಂಗರಚನೆ. ಬೀಜಾಂಡ ವಿನ್ಯಾಸದ ಐದು ವಿಧಗಳನ್ನು ತಲಾ ಒಂದು ಉದಾಹರಣೆಯೊಂದಿಗೆ ಕಲಿಯಿರಿ: ಬಟಾಣಿಯಲ್ಲಿ ಅಂಚಿನ, ಟೊಮೆಟೊ ಮತ್ತು ನಿಂಬೆಯಲ್ಲಿ ಅಕ್ಷೀಯ, ಸಾಸಿವೆಯಲ್ಲಿ ಭಿತ್ತಿಯ, ಡಯಾಂಥಸ್‌ನಲ್ಲಿ ಮುಕ್ತ ಕೇಂದ್ರೀಯ, ಸೂರ್ಯಕಾಂತಿಯಲ್ಲಿ ತಳದ ವಿನ್ಯಾಸ. ಎಲೆ ಜೋಡಣೆ ಮತ್ತು ನಾಳ ವಿನ್ಯಾಸದ ವಿಧಗಳನ್ನು ಕಲಿಯಿರಿ. ಮಾವಿನ ತಿನ್ನುವ ಭಾಗ ಮಧ್ಯಫಲಭಿತ್ತಿ. ಅಂಗರಚನೆಯಿಂದ ಪತ್ರರಂಧ್ರ, ರಕ್ಷಕ ಕೋಶಗಳು ಮತ್ತು ಬೇರುಕೂದಲು ಇರುವ ಹೊರಚರ್ಮ ಅಂಗಾಂಶ ವ್ಯವಸ್ಥೆ, ಹಾಗೂ ತೆರೆದ ಮತ್ತು ಮುಚ್ಚಿದ ನಾಳಕಟ್ಟುಗಳ ವ್ಯತ್ಯಾಸಗಳನ್ನು ಸಿದ್ಧಪಡಿಸಿ.
हिंदी (HINDI)
पुष्पी पादपों की आकारिकी और शारीरिकी। बीजांडन्यास के पाँच प्रकार हर एक के उदाहरण के साथ सीखिए: मटर में सीमांत, टमाटर और नींबू में स्तंभीय, सरसों में भित्तीय, डायंथस में मुक्त स्तंभीय, और सूरजमुखी में आधारी। पर्णविन्यास और शिराविन्यास के प्रकार सीखिए, और याद रखिए कि आम का खाने योग्य भाग मध्यफलभित्ति है। शारीरिकी से रंध्र, द्वार कोशिकाएँ और मूलरोम वाला बाह्यत्वचीय ऊतक तंत्र, और खुले व बंद संवहन बंडलों के अंतर तैयार कीजिए।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Cell: The Unit of Life is the highest-scoring chapter with 21 marks. Prepare the prokaryotic cell and mesosomes, plant cell versus animal cell, the fluid mosaic model of the cell membrane, the cell wall, the endomembrane system, mitochondria, plastids, ribosomes and the nucleus with the nucleolus. Many questions ask you to name the organelle where a structure is found, such as cristae in mitochondria, thylakoids in chloroplasts, cisternae in the Golgi body and the tonoplast around the vacuole.
ಕನ್ನಡ (KANNADA)
ಜೀವಕೋಶ: ಜೀವದ ಘಟಕ ಅತಿ ಹೆಚ್ಚು ಅಂಕದ ಅಧ್ಯಾಯ, 21 ಅಂಕಗಳು. ಆದಿಕೋಶ ಮತ್ತು ಮೀಸೋಸೋಮ್‌ಗಳು, ಸಸ್ಯಕೋಶ ಮತ್ತು ಪ್ರಾಣಿಕೋಶದ ವ್ಯತ್ಯಾಸ, ಕೋಶಪೊರೆಯ ದ್ರವ ಮೊಸಾಯಿಕ್ ಮಾದರಿ, ಕೋಶಭಿತ್ತಿ, ಒಳಪೊರೆ ವ್ಯವಸ್ಥೆ, ಮೈಟೊಕಾಂಡ್ರಿಯಾ, ಪ್ಲಾಸ್ಟಿಡ್‌ಗಳು, ರೈಬೋಸೋಮ್‌ಗಳು ಮತ್ತು ಕೋಶಕೇಂದ್ರಕವನ್ನು ಕೇಂದ್ರಕದ ಜೊತೆ ಸಿದ್ಧಪಡಿಸಿ. ಒಂದು ರಚನೆ ಯಾವ ಕೋಶಾಂಗದಲ್ಲಿದೆ ಎಂದು ಕೇಳುವ ಪ್ರಶ್ನೆಗಳು ಹೆಚ್ಚು: ಕ್ರಿಸ್ಟೇ ಮೈಟೊಕಾಂಡ್ರಿಯಾದಲ್ಲಿ, ಥೈಲಕಾಯ್ಡ್ ಹರಿತ್ತಿಲವಕದಲ್ಲಿ, ಸಿಸ್ಟರ್ನೇ ಗಾಲ್ಗಿ ಕಾಯದಲ್ಲಿ, ಟೋನೋಪ್ಲಾಸ್ಟ್ ರಸದಾನಿಯ ಸುತ್ತ.
हिंदी (HINDI)
कोशिका: जीवन की इकाई सबसे अधिक अंकों वाला अध्याय है, 21 अंक। प्रोकैरियोटिक कोशिका और मीसोसोम, पादप और जंतु कोशिका का अंतर, कोशिका झिल्ली का तरल मोज़ेक मॉडल, कोशिका भित्ति, अंतःझिल्ली तंत्र, माइटोकॉन्ड्रिया, लवक, राइबोसोम, और केंद्रिक सहित केंद्रक तैयार कीजिए। कई प्रश्न पूछते हैं कि कोई संरचना किस कोशिकांग में मिलती है: क्रिस्टी माइटोकॉन्ड्रिया में, थायलाकॉइड हरितलवक में, सिस्टर्नी गॉल्जी काय में, और टोनोप्लास्ट रिक्तिका के चारों ओर।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Biomolecules. Know that proteins are polymers of amino acids, polysaccharides are polymers of monosaccharides with examples like starch, cellulose and glycogen, and that a nucleotide has three parts: a nitrogenous base, a pentose sugar and a phosphate group. Adenine and guanine are purines. For enzymes, explain four factors: temperature, pH, substrate concentration and activators or inhibitors. Draw a small graph for each factor. A graph earns marks faster than a paragraph.
ಕನ್ನಡ (KANNADA)
ಜೈವಿಕ ಅಣುಗಳು. ಪ್ರೋಟೀನ್‌ಗಳು ಅಮೈನೋ ಆಮ್ಲಗಳ ಬಹ್ವಣುಗಳು, ಬಹುಶರ್ಕರಗಳು ಏಕಶರ್ಕರಗಳ ಬಹ್ವಣುಗಳು, ಉದಾಹರಣೆಗೆ ಪಿಷ್ಟ, ಸೆಲ್ಯುಲೋಸ್ ಮತ್ತು ಗ್ಲೈಕೋಜನ್. ನ್ಯೂಕ್ಲಿಯೋಟೈಡ್‌ಗೆ ಮೂರು ಭಾಗಗಳಿವೆ: ಸಾರಜನಕ ಪ್ರತ್ಯಾಮ್ಲ, ಪೆಂಟೋಸ್ ಸಕ್ಕರೆ ಮತ್ತು ಫಾಸ್ಫೇಟ್ ಗುಂಪು. ಅಡೆನಿನ್ ಮತ್ತು ಗ್ವಾನಿನ್ ಪ್ಯೂರಿನ್‌ಗಳು. ಕಿಣ್ವಗಳಿಗೆ ನಾಲ್ಕು ಅಂಶಗಳನ್ನು ವಿವರಿಸಿ: ತಾಪಮಾನ, ಪಿಎಚ್, ಆಧಾರವಸ್ತು ಸಾಂದ್ರತೆ ಮತ್ತು ಸಕ್ರಿಯಕಾರಕ ಅಥವಾ ಪ್ರತಿಬಂಧಕ. ಪ್ರತಿ ಅಂಶಕ್ಕೆ ಒಂದು ಸಣ್ಣ ಗ್ರಾಫ್ ಬರೆಯಿರಿ. ಗ್ರಾಫ್ ಪ್ಯಾರಾಗ್ರಾಫ್‌ಗಿಂತ ಬೇಗ ಅಂಕ ತರುತ್ತದೆ.
हिंदी (HINDI)
जैव अणु। जानिए कि प्रोटीन अमीनो अम्लों के बहुलक हैं, पॉलीसैकेराइड मोनोसैकेराइड के बहुलक हैं, जैसे स्टार्च, सेलुलोज़ और ग्लाइकोजन, और न्यूक्लियोटाइड के तीन भाग होते हैं: नाइट्रोजनी क्षारक, पेंटोज़ शर्करा और फॉस्फेट समूह। एडेनिन और ग्वानिन प्यूरिन हैं। एंजाइम के लिए चार कारक समझाइए: तापमान, पीएच, सब्सट्रेट सांद्रता, और सक्रियक या संदमक। हर कारक का एक छोटा ग्राफ बनाइए। ग्राफ पैराग्राफ से जल्दी अंक दिलाता 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Cell Cycle and Cell Division. Draw the cell cycle as a wheel: interphase with G1, S and G2, then the M phase, and the G0 quiescent stage. Learn the stages of mitosis well enough to identify a stage from a diagram. For meiosis, remember the order of Prophase One: leptotene, zygotene, pachytene, diplotene and diakinesis. Crossing over happens in pachytene. Finally, prepare at least three differences between mitosis and meiosis.
ಕನ್ನಡ (KANNADA)
ಜೀವಕೋಶ ಚಕ್ರ ಮತ್ತು ಕೋಶ ವಿಭಜನೆ. ಜೀವಕೋಶ ಚಕ್ರವನ್ನು ಚಕ್ರದ ರೂಪದಲ್ಲಿ ಬರೆಯಿರಿ: ಜಿ1, ಎಸ್ ಮತ್ತು ಜಿ2 ಇರುವ ಅಂತರಾವಸ್ಥೆ, ನಂತರ ಎಂ ಹಂತ, ಮತ್ತು ಜಿ0 ವಿಶ್ರಾಂತ ಹಂತ. ಚಿತ್ರದಿಂದ ಹಂತವನ್ನು ಗುರುತಿಸುವಷ್ಟು ಸಮಸೂತ್ರ ವಿಭಜನೆಯ ಹಂತಗಳನ್ನು ಕಲಿಯಿರಿ. ಅರ್ಧಸೂತ್ರ ವಿಭಜನೆಗೆ ಪ್ರೊಫೇಸ್ ಒಂದರ ಕ್ರಮ ನೆನಪಿಡಿ: ಲೆಪ್ಟೋಟೀನ್, ಜೈಗೋಟೀನ್, ಪ್ಯಾಕಿಟೀನ್, ಡಿಪ್ಲೋಟೀನ್ ಮತ್ತು ಡಯಾಕೈನೆಸಿಸ್. ಕ್ರಾಸಿಂಗ್ ಓವರ್ ಪ್ಯಾಕಿಟೀನ್‌ನಲ್ಲಿ ನಡೆಯುತ್ತದೆ. ಕೊನೆಗೆ ಸಮಸೂತ್ರ ಮತ್ತು ಅರ್ಧಸೂತ್ರ ವಿಭಜನೆಯ ಕನಿಷ್ಠ ಮೂರು ವ್ಯತ್ಯಾಸಗಳನ್ನು ಸಿದ್ಧಪಡಿಸಿ.
हिंदी (HINDI)
कोशिका चक्र और कोशिका विभाजन। कोशिका चक्र को एक पहिये के रूप में बनाइए: जी1, एस और जी2 वाली अंतरावस्था, फिर एम प्रावस्था, और जी0 विश्राम अवस्था। समसूत्री विभाजन की अवस्थाएँ इतनी अच्छी तरह सीखिए कि चित्र देखकर अवस्था पहचान सकें। अर्धसूत्री विभाजन के लिए प्रोफेज़ एक का क्रम याद रखिए: लेप्टोटीन, ज़ाइगोटीन, पैकीटीन, डिप्लोटीन और डायकाइनेसिस। क्रॉसिंग ओवर पैकीटीन में होता है। अंत में समसूत्री और अर्धसूत्री विभाजन के कम से कम तीन अंतर तैयार कीजिए।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Diagrams carry marks, and unlabelled diagrams get no marks. Practise these four until you can draw each one in about three minutes: the plant cell, the mitochondrion, the digestive system of the frog, and the cell cycle. Draw with a pencil, keep the diagram large and neat, draw label lines straight and parallel, and write the title below the diagram.
ಕನ್ನಡ (KANNADA)
ಚಿತ್ರಗಳಿಗೆ ಅಂಕಗಳಿವೆ, ಹೆಸರಿಸದ ಚಿತ್ರಗಳಿಗೆ ಅಂಕವಿಲ್ಲ. ಈ ನಾಲ್ಕು ಚಿತ್ರಗಳನ್ನು ತಲಾ ಸುಮಾರು ಮೂರು ನಿಮಿಷದಲ್ಲಿ ಬರೆಯುವಷ್ಟು ಅಭ್ಯಾಸ ಮಾಡಿ: ಸಸ್ಯಕೋಶ, ಮೈಟೊಕಾಂಡ್ರಿಯಾ, ಕಪ್ಪೆಯ ಜೀರ್ಣಾಂಗ ವ್ಯವಸ್ಥೆ ಮತ್ತು ಜೀವಕೋಶ ಚಕ್ರ. ಪೆನ್ಸಿಲ್‌ನಿಂದ ಬರೆಯಿರಿ, ಚಿತ್ರ ದೊಡ್ಡದಾಗಿ ಮತ್ತು ಅಚ್ಚುಕಟ್ಟಾಗಿರಲಿ, ಹೆಸರಿಸುವ ಗೆರೆಗಳು ನೇರ ಮತ್ತು ಸಮಾಂತರವಾಗಿರಲಿ, ಮತ್ತು ಶೀರ್ಷಿಕೆಯನ್ನು ಚಿತ್ರದ ಕೆಳಗೆ ಬರೆಯಿರಿ.
हिंदी (HINDI)
चित्रों के अंक होते हैं, और बिना नामांकन वाले चित्रों को अंक नहीं मिलते। इन चार चित्रों का अभ्यास तब तक कीजिए जब तक हर एक लगभग तीन मिनट में न बन जाए: पादप कोशिका, माइटोकॉन्ड्रिया, मेंढक का पाचन तंत्र, और कोशिका चक्र। पेंसिल से बनाइए, चित्र बड़ा और साफ़ रखिए, नामांकन रेखाएँ सीधी और समानांतर खींचिए, और शीर्षक चित्र के नीचे लिखिए।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Tips for Part A. Read all four options before you choose. Eliminate the clearly wrong ones first. Watch for words like not, incorrect and except. Only the first answer you write is evaluated, so do not overwrite or write two answers. In fill in the blanks, every word from the bracket is used once, so cross out each word as you use it.
ಕನ್ನಡ (KANNADA)
ಭಾಗ ಎ ಗೆ ಸಲಹೆಗಳು. ಆಯ್ಕೆ ಮಾಡುವ ಮೊದಲು ನಾಲ್ಕೂ ಆಯ್ಕೆಗಳನ್ನು ಓದಿ. ಸ್ಪಷ್ಟವಾಗಿ ತಪ್ಪಾದವುಗಳನ್ನು ಮೊದಲು ತೆಗೆದುಹಾಕಿ. ಅಲ್ಲ, ತಪ್ಪು, ಹೊರತುಪಡಿಸಿ ಎಂಬ ಪದಗಳ ಬಗ್ಗೆ ಎಚ್ಚರ. ಮೊದಲು ಬರೆದ ಉತ್ತರವನ್ನು ಮಾತ್ರ ಮೌಲ್ಯಮಾಪನ ಮಾಡಲಾಗುತ್ತದೆ, ಆದ್ದರಿಂದ ತಿದ್ದಿ ಬರೆಯಬೇಡಿ ಅಥವಾ ಎರಡು ಉತ್ತರ ಬರೆಯಬೇಡಿ. ಬಿಟ್ಟ ಸ್ಥಳ ತುಂಬುವಾಗ ಆವರಣದ ಪ್ರತಿ ಪದವನ್ನು ಒಮ್ಮೆ ಮಾತ್ರ ಬಳಸಲಾಗುತ್ತದೆ, ಬಳಸಿದ ಪದವನ್ನು ಹೊಡೆದು ಹಾಕಿ.
हिंदी (HINDI)
भाग ए के लिए सुझाव। उत्तर चुनने से पहले चारों विकल्प पढ़िए। पहले स्पष्ट रूप से गलत विकल्प हटाइए। नहीं, गलत और को छोड़कर जैसे शब्दों पर ध्यान दीजिए। केवल पहला लिखा उत्तर जाँचा जाता है, इसलिए काटकर दोबारा न लिखें और दो उत्तर न लिखें। रिक्त स्थान भरते समय कोष्ठक का हर शब्द एक बार ही उपयोग होता है, इसलिए उपयोग किया शब्द काटते जाइए।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Tips for two and three mark answers. Give one clear point for every mark: two points for two marks, three points for three marks. Start with a definition and add an example. Write differences in a two-column table, not in a paragraph. If a diagram is asked, label it fully. Underline the key terms so the examiner can find them quickly.
ಕನ್ನಡ (KANNADA)
ಎರಡು ಮತ್ತು ಮೂರು ಅಂಕದ ಉತ್ತರಗಳಿಗೆ ಸಲಹೆಗಳು. ಪ್ರತಿ ಅಂಕಕ್ಕೆ ಒಂದು ಸ್ಪಷ್ಟ ಅಂಶ ನೀಡಿ: ಎರಡು ಅಂಕಕ್ಕೆ ಎರಡು ಅಂಶಗಳು, ಮೂರು ಅಂಕಕ್ಕೆ ಮೂರು ಅಂಶಗಳು. ವ್ಯಾಖ್ಯಾನದಿಂದ ಆರಂಭಿಸಿ ಒಂದು ಉದಾಹರಣೆ ಸೇರಿಸಿ. ವ್ಯತ್ಯಾಸಗಳನ್ನು ಪ್ಯಾರಾಗ್ರಾಫ್‌ನಲ್ಲಿ ಅಲ್ಲ, ಎರಡು ಕಾಲಂ ಕೋಷ್ಟಕದಲ್ಲಿ ಬರೆಯಿರಿ. ಚಿತ್ರ ಕೇಳಿದ್ದರೆ ಪೂರ್ತಿ ಹೆಸರಿಸಿ. ಮೌಲ್ಯಮಾಪಕರಿಗೆ ಬೇಗ ಕಾಣುವಂತೆ ಮುಖ್ಯ ಪದಗಳಿಗೆ ಅಡಿಗೆರೆ ಹಾಕಿ.
हिंदी (HINDI)
दो और तीन अंक वाले उत्तरों के सुझाव। हर अंक के लिए एक स्पष्ट बिंदु दीजिए: दो अंक के लिए दो बिंदु, तीन अंक के लिए तीन बिंदु। परिभाषा से शुरू कीजिए और एक उदाहरण जोड़िए। अंतर पैराग्राफ में नहीं, दो कॉलम वाली तालिका में लिखिए। अगर चित्र पूछा है तो पूरा नामांकन कीजिए। मुख्य शब्दों को रेखांकित कीजिए ताकि परीक्षक उन्हें जल्दी देख सकें।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Tips for five mark answers. Plan before you write. Begin with a one-line introduction, then write headed points, add a neat labelled diagram, give examples, and end with a short conclusion. Aim for two hundred to two hundred and fifty words. Choose the questions where you can draw the diagram confidently. In the identification questions of section six, write each answer clearly against its letter or number.
ಕನ್ನಡ (KANNADA)
ಐದು ಅಂಕದ ಉತ್ತರಗಳಿಗೆ ಸಲಹೆಗಳು. ಬರೆಯುವ ಮೊದಲು ಯೋಜನೆ ಮಾಡಿ. ಒಂದು ಸಾಲಿನ ಪೀಠಿಕೆಯಿಂದ ಆರಂಭಿಸಿ, ನಂತರ ಶೀರ್ಷಿಕೆ ಇರುವ ಅಂಶಗಳು, ಅಚ್ಚುಕಟ್ಟಾದ ಹೆಸರಿಸಿದ ಚಿತ್ರ, ಉದಾಹರಣೆಗಳು, ಮತ್ತು ಕೊನೆಗೆ ಸಣ್ಣ ತೀರ್ಮಾನ ಬರೆಯಿರಿ. ಇನ್ನೂರರಿಂದ ಇನ್ನೂರ ಐವತ್ತು ಪದಗಳ ಗುರಿ ಇಡಿ. ಆತ್ಮವಿಶ್ವಾಸದಿಂದ ಚಿತ್ರ ಬರೆಯಬಲ್ಲ ಪ್ರಶ್ನೆಗಳನ್ನು ಆಯ್ಕೆ ಮಾಡಿ. ಆರನೇ ವಿಭಾಗದ ಗುರುತಿಸುವ ಪ್ರಶ್ನೆಗಳಲ್ಲಿ ಪ್ರತಿ ಉತ್ತರವನ್ನು ಅದರ ಅಕ್ಷರ ಅಥವಾ ಸಂಖ್ಯೆಯ ಎದುರು ಸ್ಪಷ್ಟವಾಗಿ ಬರೆಯಿರಿ.
हिंदी (HINDI)
पाँच अंक वाले उत्तरों के सुझाव। लिखने से पहले योजना बनाइए। एक पंक्ति की भूमिका से शुरू कीजिए, फिर शीर्षक वाले बिंदु, एक साफ़ नामांकित चित्र, उदाहरण, और अंत में एक छोटा निष्कर्ष लिखिए। दो सौ से ढाई सौ शब्दों का लक्ष्य रखिए। वे प्रश्न चुनिए जिनका चित्र आप आत्मविश्वास से बना सकें। खंड छह के पहचान वाले प्रश्नों में हर उत्तर उसके अक्षर या संख्या के सामने साफ़ लिखिए।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In the exam hall, use your time well. Spend the first few minutes reading the whole paper and ticking the questions you will answer. Finish Part A first, since it is quick and sure. Next, write the long answers you know best while your mind is fresh. Then complete the short answers. Keep the last ten minutes to check question numbers, labels and any blank answers.
ಕನ್ನಡ (KANNADA)
ಪರೀಕ್ಷಾ ಕೊಠಡಿಯಲ್ಲಿ ಸಮಯವನ್ನು ಚೆನ್ನಾಗಿ ಬಳಸಿ. ಮೊದಲ ಕೆಲವು ನಿಮಿಷ ಇಡೀ ಪತ್ರಿಕೆಯನ್ನು ಓದಿ, ಉತ್ತರಿಸುವ ಪ್ರಶ್ನೆಗಳಿಗೆ ಗುರುತು ಹಾಕಿ. ಭಾಗ ಎ ಅನ್ನು ಮೊದಲು ಮುಗಿಸಿ, ಅದು ಬೇಗ ಮತ್ತು ಖಚಿತ. ನಂತರ ಮನಸ್ಸು ತಾಜಾ ಇರುವಾಗಲೇ ಚೆನ್ನಾಗಿ ಗೊತ್ತಿರುವ ದೀರ್ಘ ಉತ್ತರಗಳನ್ನು ಬರೆಯಿರಿ. ನಂತರ ಸಣ್ಣ ಉತ್ತರಗಳನ್ನು ಪೂರ್ಣಗೊಳಿಸಿ. ಕೊನೆಯ ಹತ್ತು ನಿಮಿಷಗಳನ್ನು ಪ್ರಶ್ನೆ ಸಂಖ್ಯೆ, ಚಿತ್ರದ ಹೆಸರುಗಳು ಮತ್ತು ಬಿಟ್ಟುಹೋದ ಉತ್ತರಗಳನ್ನು ಪರಿಶೀಲಿಸಲು ಇಟ್ಟುಕೊಳ್ಳಿ.
हिंदी (HINDI)
परीक्षा कक्ष में समय का अच्छा उपयोग कीजिए। पहले कुछ मिनट पूरा पेपर पढ़िए और जिन प्रश्नों के उत्तर देंगे उन पर निशान लगाइए। भाग ए पहले पूरा कीजिए, क्योंकि वह जल्दी और पक्का है। फिर दिमाग ताज़ा रहते हुए वे लंबे उत्तर लिखिए जो आपको सबसे अच्छे आते हैं। उसके बाद छोटे उत्तर पूरे कीजिए। आखिरी दस मिनट प्रश्न संख्या, चित्र के नामांकन और छूटे उत्तर जाँचने के लिए रखिए।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Here is a seven-day revision plan. Day one: Cell, the unit of life. Day two: cell diagrams and Biomolecules. Day three: Cell Cycle and Cell Division. Day four: Animal Kingdom and the frog. Day five: Living World, Biological Classification and Plant Kingdom. Day six: Morphology and Anatomy. Day seven: write a full mock paper in exam time and redraw all four diagrams.
ಕನ್ನಡ (KANNADA)
ಇಲ್ಲಿ ಏಳು ದಿನಗಳ ಪುನರಾವರ್ತನೆ ಯೋಜನೆ ಇದೆ. ಮೊದಲ ದಿನ: ಜೀವಕೋಶ, ಜೀವದ ಘಟಕ. ಎರಡನೇ ದಿನ: ಕೋಶದ ಚಿತ್ರಗಳು ಮತ್ತು ಜೈವಿಕ ಅಣುಗಳು. ಮೂರನೇ ದಿನ: ಜೀವಕೋಶ ಚಕ್ರ ಮತ್ತು ಕೋಶ ವಿಭಜನೆ. ನಾಲ್ಕನೇ ದಿನ: ಪ್ರಾಣಿ ಸಾಮ್ರಾಜ್ಯ ಮತ್ತು ಕಪ್ಪೆ. ಐದನೇ ದಿನ: ಜೀವ ಜಗತ್ತು, ಜೈವಿಕ ವರ್ಗೀಕರಣ ಮತ್ತು ಸಸ್ಯ ಸಾಮ್ರಾಜ್ಯ. ಆರನೇ ದಿನ: ರೂಪವಿಜ್ಞಾನ ಮತ್ತು ಅಂಗರಚನೆ. ಏಳನೇ ದಿನ: ಪರೀಕ್ಷಾ ಸಮಯದಲ್ಲಿ ಒಂದು ಪೂರ್ಣ ಮಾದರಿ ಪತ್ರಿಕೆ ಬರೆಯಿರಿ ಮತ್ತು ನಾಲ್ಕೂ ಚಿತ್ರಗಳನ್ನು ಮತ್ತೆ ಬರೆಯಿರಿ.
हिंदी (HINDI)
यह रही सात दिन की दोहराने की योजना। पहला दिन: कोशिका, जीवन की इकाई। दूसरा दिन: कोशिका के चित्र और जैव अणु। तीसरा दिन: कोशिका चक्र और कोशिका विभाजन। चौथा दिन: प्राणी जगत और मेंढक। पाँचवाँ दिन: जीव जगत, जैविक वर्गीकरण और पादप जगत। छठा दिन: आकारिकी और शारीरिकी। सातवाँ दिन: परीक्षा के समय में एक पूरा मॉडल पेपर लिखिए और चारों चित्र फिर से बनाइए।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That brings us to the end. Focus on the four high-mark chapters, practise your diagrams, and write every answer point by point. Regular revision always beats last-minute reading. All the best for your examination. Narendra Sir, BAIO Learning System.
ಕನ್ನಡ (KANNADA)
ಇಲ್ಲಿಗೆ ಅವಧಿ ಮುಗಿಯುತ್ತದೆ. ಹೆಚ್ಚು ಅಂಕದ ನಾಲ್ಕು ಅಧ್ಯಾಯಗಳ ಮೇಲೆ ಗಮನ ಕೊಡಿ, ಚಿತ್ರಗಳನ್ನು ಅಭ್ಯಾಸ ಮಾಡಿ, ಮತ್ತು ಪ್ರತಿ ಉತ್ತರವನ್ನು ಅಂಶವಾರು ಬರೆಯಿರಿ. ನಿಯಮಿತ ಪುನರಾವರ್ತನೆ ಕೊನೆಯ ಕ್ಷಣದ ಓದಿಗಿಂತ ಯಾವಾಗಲೂ ಉತ್ತಮ. ನಿಮ್ಮ ಪರೀಕ್ಷೆಗೆ ಶುಭಾಶಯಗಳು. ನರೇಂದ್ರ ಸರ್, ಬಿಎಐಒ ಲರ್ನಿಂಗ್ ಸಿಸ್ಟಮ್.
हिंदी (HINDI)
यहीं हमारा सत्र समाप्त होता है। अधिक अंकों वाले चार अध्यायों पर ध्यान दीजिए, चित्रों का अभ्यास कीजिए, और हर उत्तर बिंदुवार लिखिए। नियमित दोहराना आखिरी समय की पढ़ाई से हमेशा बेहतर है। आपकी परीक्षा के लिए शुभकामनाएँ। नरेंद्र सर, बीएआईओ लर्निंग सिस्टम।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786384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BAIO Learning System  ·  Narendra Sir  ·  I PUC Biology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417320"/>
            <a:ext cx="7315200" cy="411480"/>
          </a:xfrm>
          <a:prstGeom prst="rect">
            <a:avLst/>
          </a:prstGeom>
          <a:noFill/>
          <a:ln/>
        </p:spPr>
        <p:txBody>
          <a:bodyPr wrap="square" lIns="0" tIns="0" rIns="0" bIns="0" rtlCol="0" anchor="ctr"/>
          <a:lstStyle/>
          <a:p>
            <a:pPr indent="0" marL="0">
              <a:buNone/>
            </a:pPr>
            <a:r>
              <a:rPr lang="en-US" sz="1600" b="1" spc="300" kern="0" dirty="0">
                <a:solidFill>
                  <a:schemeClr val="accent2"/>
                </a:solidFill>
              </a:rPr>
              <a:t>I PUC BIOLOGY  ·  MID-TERM 2026</a:t>
            </a:r>
            <a:endParaRPr lang="en-US" sz="1600" dirty="0"/>
          </a:p>
        </p:txBody>
      </p:sp>
      <p:sp>
        <p:nvSpPr>
          <p:cNvPr id="3" name="Text 0"/>
          <p:cNvSpPr/>
          <p:nvPr>
            <p:ph idx="100" type="title" hasCustomPrompt="1"/>
          </p:nvPr>
        </p:nvSpPr>
        <p:spPr>
          <a:xfrm>
            <a:off x="731520" y="2057400"/>
            <a:ext cx="7863840" cy="1737360"/>
          </a:xfrm>
          <a:prstGeom prst="rect">
            <a:avLst/>
          </a:prstGeom>
          <a:noFill/>
          <a:ln/>
        </p:spPr>
        <p:txBody>
          <a:bodyPr wrap="square" lIns="0" tIns="0" rIns="0" bIns="0" rtlCol="0" anchor="t"/>
          <a:lstStyle/>
          <a:p>
            <a:pPr algn="l" indent="0" marL="0">
              <a:buNone/>
            </a:pPr>
            <a:r>
              <a:rPr lang="en-US" sz="4400" b="1" dirty="0">
                <a:solidFill>
                  <a:schemeClr val="bg1"/>
                </a:solidFill>
              </a:rPr>
              <a:t>Topics to practise &amp; tips to score high</a:t>
            </a:r>
            <a:endParaRPr lang="en-US" sz="4400" dirty="0"/>
          </a:p>
        </p:txBody>
      </p:sp>
      <p:sp>
        <p:nvSpPr>
          <p:cNvPr id="4" name="subtitle"/>
          <p:cNvSpPr txBox="1"/>
          <p:nvPr/>
        </p:nvSpPr>
        <p:spPr>
          <a:xfrm>
            <a:off x="731520" y="3886200"/>
            <a:ext cx="7863840" cy="822960"/>
          </a:xfrm>
          <a:prstGeom prst="rect">
            <a:avLst/>
          </a:prstGeom>
          <a:noFill/>
          <a:ln/>
        </p:spPr>
        <p:txBody>
          <a:bodyPr wrap="square" lIns="0" tIns="0" rIns="0" bIns="0" rtlCol="0" anchor="ctr"/>
          <a:lstStyle/>
          <a:p>
            <a:pPr indent="0" marL="0">
              <a:buNone/>
            </a:pPr>
            <a:r>
              <a:rPr lang="en-US" sz="1800" dirty="0">
                <a:solidFill>
                  <a:srgbClr val="C9D3E3"/>
                </a:solidFill>
              </a:rPr>
              <a:t>Chapter-wise important topics from the mid-term paper, diagrams to master and answer-writing tips</a:t>
            </a:r>
            <a:endParaRPr lang="en-US" sz="1800" dirty="0"/>
          </a:p>
        </p:txBody>
      </p:sp>
      <p:sp>
        <p:nvSpPr>
          <p:cNvPr id="5" name="presenter"/>
          <p:cNvSpPr txBox="1"/>
          <p:nvPr/>
        </p:nvSpPr>
        <p:spPr>
          <a:xfrm>
            <a:off x="731520" y="5120640"/>
            <a:ext cx="7315200" cy="1005840"/>
          </a:xfrm>
          <a:prstGeom prst="rect">
            <a:avLst/>
          </a:prstGeom>
          <a:noFill/>
          <a:ln/>
        </p:spPr>
        <p:txBody>
          <a:bodyPr wrap="square" lIns="0" tIns="0" rIns="0" bIns="0" rtlCol="0" anchor="ctr"/>
          <a:lstStyle/>
          <a:p>
            <a:pPr indent="0" marL="0">
              <a:buNone/>
            </a:pPr>
            <a:r>
              <a:rPr lang="en-US" sz="1400" b="1" dirty="0">
                <a:solidFill>
                  <a:srgbClr val="FFFFFF"/>
                </a:solidFill>
              </a:rPr>
              <a:t>Narendra Sir</a:t>
            </a:r>
            <a:endParaRPr lang="en-US" sz="1400" dirty="0"/>
          </a:p>
          <a:p>
            <a:pPr indent="0" marL="0">
              <a:buNone/>
            </a:pPr>
            <a:r>
              <a:rPr lang="en-US" sz="1400" dirty="0">
                <a:solidFill>
                  <a:srgbClr val="C9D3E3"/>
                </a:solidFill>
              </a:rPr>
              <a:t>Lecturer in Biology · Founder &amp; CEO, BAIO Learning System</a:t>
            </a:r>
            <a:endParaRPr lang="en-US" sz="1400" dirty="0"/>
          </a:p>
          <a:p>
            <a:pPr indent="0" marL="0">
              <a:buNone/>
            </a:pPr>
            <a:r>
              <a:rPr lang="en-US" sz="1400" dirty="0">
                <a:solidFill>
                  <a:srgbClr val="C9D3E3"/>
                </a:solidFill>
              </a:rPr>
              <a:t>S.R.N. Mehta PU Science College, Kalaburagi</a:t>
            </a:r>
            <a:endParaRPr lang="en-US" sz="1400" dirty="0"/>
          </a:p>
        </p:txBody>
      </p:sp>
      <p:sp>
        <p:nvSpPr>
          <p:cNvPr id="6" name="emblem ring"/>
          <p:cNvSpPr/>
          <p:nvPr/>
        </p:nvSpPr>
        <p:spPr>
          <a:xfrm>
            <a:off x="9052560" y="1554480"/>
            <a:ext cx="2468880" cy="2468880"/>
          </a:xfrm>
          <a:prstGeom prst="ellipse">
            <a:avLst/>
          </a:prstGeom>
          <a:solidFill>
            <a:srgbClr val="16264A"/>
          </a:solidFill>
          <a:ln w="25400">
            <a:solidFill>
              <a:srgbClr val="C99A1E"/>
            </a:solidFill>
            <a:prstDash val="solid"/>
          </a:ln>
        </p:spPr>
      </p:sp>
      <p:pic>
        <p:nvPicPr>
          <p:cNvPr id="7" name="emblem icon" descr="preencoded.png">    </p:cNvPr>
          <p:cNvPicPr>
            <a:picLocks noChangeAspect="1"/>
          </p:cNvPicPr>
          <p:nvPr/>
        </p:nvPicPr>
        <p:blipFill>
          <a:blip r:embed="rId1"/>
          <a:stretch>
            <a:fillRect/>
          </a:stretch>
        </p:blipFill>
        <p:spPr>
          <a:xfrm>
            <a:off x="9646920" y="2148840"/>
            <a:ext cx="1280160" cy="1280160"/>
          </a:xfrm>
          <a:prstGeom prst="rect">
            <a:avLst/>
          </a:prstGeom>
        </p:spPr>
      </p:pic>
      <p:sp>
        <p:nvSpPr>
          <p:cNvPr id="8" name="lang note"/>
          <p:cNvSpPr txBox="1"/>
          <p:nvPr/>
        </p:nvSpPr>
        <p:spPr>
          <a:xfrm>
            <a:off x="8229600" y="4251960"/>
            <a:ext cx="3931920" cy="365760"/>
          </a:xfrm>
          <a:prstGeom prst="rect">
            <a:avLst/>
          </a:prstGeom>
          <a:noFill/>
          <a:ln/>
        </p:spPr>
        <p:txBody>
          <a:bodyPr wrap="square" lIns="0" tIns="0" rIns="0" bIns="0" rtlCol="0" anchor="ctr"/>
          <a:lstStyle/>
          <a:p>
            <a:pPr algn="ctr" indent="0" marL="0">
              <a:buNone/>
            </a:pPr>
            <a:r>
              <a:rPr lang="en-US" sz="1200" dirty="0">
                <a:solidFill>
                  <a:schemeClr val="accent2"/>
                </a:solidFill>
              </a:rPr>
              <a:t>Narration in English · ಕನ್ನಡ · हिंदी in speaker notes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Know the paper pattern before you revise</a:t>
            </a:r>
            <a:endParaRPr lang="en-US" sz="3400" dirty="0"/>
          </a:p>
        </p:txBody>
      </p:sp>
      <p:sp>
        <p:nvSpPr>
          <p:cNvPr id="3" name="Part A card"/>
          <p:cNvSpPr/>
          <p:nvPr/>
        </p:nvSpPr>
        <p:spPr>
          <a:xfrm>
            <a:off x="548640" y="1417320"/>
            <a:ext cx="2587752" cy="3246120"/>
          </a:xfrm>
          <a:prstGeom prst="roundRect">
            <a:avLst>
              <a:gd name="adj" fmla="val 4240"/>
            </a:avLst>
          </a:prstGeom>
          <a:solidFill>
            <a:srgbClr val="E8F3F1"/>
          </a:solidFill>
          <a:ln/>
        </p:spPr>
      </p:sp>
      <p:sp>
        <p:nvSpPr>
          <p:cNvPr id="4" name="Part A label"/>
          <p:cNvSpPr txBox="1"/>
          <p:nvPr/>
        </p:nvSpPr>
        <p:spPr>
          <a:xfrm>
            <a:off x="822960" y="1691640"/>
            <a:ext cx="2039112" cy="365760"/>
          </a:xfrm>
          <a:prstGeom prst="rect">
            <a:avLst/>
          </a:prstGeom>
          <a:noFill/>
          <a:ln/>
        </p:spPr>
        <p:txBody>
          <a:bodyPr wrap="square" lIns="0" tIns="0" rIns="0" bIns="0" rtlCol="0" anchor="ctr"/>
          <a:lstStyle/>
          <a:p>
            <a:pPr indent="0" marL="0">
              <a:buNone/>
            </a:pPr>
            <a:r>
              <a:rPr lang="en-US" sz="1600" b="1" dirty="0">
                <a:solidFill>
                  <a:schemeClr val="accent1"/>
                </a:solidFill>
              </a:rPr>
              <a:t>Part A</a:t>
            </a:r>
            <a:endParaRPr lang="en-US" sz="1600" dirty="0"/>
          </a:p>
        </p:txBody>
      </p:sp>
      <p:sp>
        <p:nvSpPr>
          <p:cNvPr id="5" name="Part A marks"/>
          <p:cNvSpPr txBox="1"/>
          <p:nvPr/>
        </p:nvSpPr>
        <p:spPr>
          <a:xfrm>
            <a:off x="822960" y="2103120"/>
            <a:ext cx="2039112" cy="1005840"/>
          </a:xfrm>
          <a:prstGeom prst="rect">
            <a:avLst/>
          </a:prstGeom>
          <a:noFill/>
          <a:ln/>
        </p:spPr>
        <p:txBody>
          <a:bodyPr wrap="square" lIns="0" tIns="0" rIns="0" bIns="0" rtlCol="0" anchor="ctr"/>
          <a:lstStyle/>
          <a:p>
            <a:pPr indent="0" marL="0">
              <a:buNone/>
            </a:pPr>
            <a:r>
              <a:rPr lang="en-US" sz="6400" b="1" dirty="0">
                <a:solidFill>
                  <a:schemeClr val="tx1"/>
                </a:solidFill>
                <a:latin typeface="Cambria" pitchFamily="34" charset="0"/>
                <a:ea typeface="Cambria" pitchFamily="34" charset="-122"/>
                <a:cs typeface="Cambria" pitchFamily="34" charset="-120"/>
              </a:rPr>
              <a:t>20</a:t>
            </a:r>
            <a:endParaRPr lang="en-US" sz="6400" dirty="0"/>
          </a:p>
        </p:txBody>
      </p:sp>
      <p:sp>
        <p:nvSpPr>
          <p:cNvPr id="6" name="Part A unit"/>
          <p:cNvSpPr txBox="1"/>
          <p:nvPr/>
        </p:nvSpPr>
        <p:spPr>
          <a:xfrm>
            <a:off x="822960" y="3108960"/>
            <a:ext cx="2039112" cy="320040"/>
          </a:xfrm>
          <a:prstGeom prst="rect">
            <a:avLst/>
          </a:prstGeom>
          <a:noFill/>
          <a:ln/>
        </p:spPr>
        <p:txBody>
          <a:bodyPr wrap="square" lIns="0" tIns="0" rIns="0" bIns="0" rtlCol="0" anchor="ctr"/>
          <a:lstStyle/>
          <a:p>
            <a:pPr indent="0" marL="0">
              <a:buNone/>
            </a:pPr>
            <a:r>
              <a:rPr lang="en-US" sz="1400" dirty="0">
                <a:solidFill>
                  <a:schemeClr val="tx2"/>
                </a:solidFill>
              </a:rPr>
              <a:t>marks</a:t>
            </a:r>
            <a:endParaRPr lang="en-US" sz="1400" dirty="0"/>
          </a:p>
        </p:txBody>
      </p:sp>
      <p:sp>
        <p:nvSpPr>
          <p:cNvPr id="7" name="Part A detail"/>
          <p:cNvSpPr txBox="1"/>
          <p:nvPr/>
        </p:nvSpPr>
        <p:spPr>
          <a:xfrm>
            <a:off x="822960" y="3566160"/>
            <a:ext cx="2039112" cy="9144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15 MCQs + 5 fill in the blanks</a:t>
            </a:r>
            <a:endParaRPr lang="en-US" sz="1500" dirty="0"/>
          </a:p>
          <a:p>
            <a:pPr indent="0" marL="0">
              <a:spcAft>
                <a:spcPts val="400"/>
              </a:spcAft>
              <a:buNone/>
            </a:pPr>
            <a:r>
              <a:rPr lang="en-US" sz="1500" dirty="0">
                <a:solidFill>
                  <a:schemeClr val="tx2"/>
                </a:solidFill>
              </a:rPr>
              <a:t>1 mark each · all compulsory</a:t>
            </a:r>
            <a:endParaRPr lang="en-US" sz="1500" dirty="0"/>
          </a:p>
        </p:txBody>
      </p:sp>
      <p:sp>
        <p:nvSpPr>
          <p:cNvPr id="8" name="Part B card"/>
          <p:cNvSpPr/>
          <p:nvPr/>
        </p:nvSpPr>
        <p:spPr>
          <a:xfrm>
            <a:off x="3364992" y="1417320"/>
            <a:ext cx="2587752" cy="3246120"/>
          </a:xfrm>
          <a:prstGeom prst="roundRect">
            <a:avLst>
              <a:gd name="adj" fmla="val 4240"/>
            </a:avLst>
          </a:prstGeom>
          <a:solidFill>
            <a:srgbClr val="E8F3F1"/>
          </a:solidFill>
          <a:ln/>
        </p:spPr>
      </p:sp>
      <p:sp>
        <p:nvSpPr>
          <p:cNvPr id="9" name="Part B label"/>
          <p:cNvSpPr txBox="1"/>
          <p:nvPr/>
        </p:nvSpPr>
        <p:spPr>
          <a:xfrm>
            <a:off x="3639312" y="1691640"/>
            <a:ext cx="2039112" cy="365760"/>
          </a:xfrm>
          <a:prstGeom prst="rect">
            <a:avLst/>
          </a:prstGeom>
          <a:noFill/>
          <a:ln/>
        </p:spPr>
        <p:txBody>
          <a:bodyPr wrap="square" lIns="0" tIns="0" rIns="0" bIns="0" rtlCol="0" anchor="ctr"/>
          <a:lstStyle/>
          <a:p>
            <a:pPr indent="0" marL="0">
              <a:buNone/>
            </a:pPr>
            <a:r>
              <a:rPr lang="en-US" sz="1600" b="1" dirty="0">
                <a:solidFill>
                  <a:schemeClr val="accent1"/>
                </a:solidFill>
              </a:rPr>
              <a:t>Part B</a:t>
            </a:r>
            <a:endParaRPr lang="en-US" sz="1600" dirty="0"/>
          </a:p>
        </p:txBody>
      </p:sp>
      <p:sp>
        <p:nvSpPr>
          <p:cNvPr id="10" name="Part B marks"/>
          <p:cNvSpPr txBox="1"/>
          <p:nvPr/>
        </p:nvSpPr>
        <p:spPr>
          <a:xfrm>
            <a:off x="3639312" y="2103120"/>
            <a:ext cx="2039112" cy="1005840"/>
          </a:xfrm>
          <a:prstGeom prst="rect">
            <a:avLst/>
          </a:prstGeom>
          <a:noFill/>
          <a:ln/>
        </p:spPr>
        <p:txBody>
          <a:bodyPr wrap="square" lIns="0" tIns="0" rIns="0" bIns="0" rtlCol="0" anchor="ctr"/>
          <a:lstStyle/>
          <a:p>
            <a:pPr indent="0" marL="0">
              <a:buNone/>
            </a:pPr>
            <a:r>
              <a:rPr lang="en-US" sz="6400" b="1" dirty="0">
                <a:solidFill>
                  <a:schemeClr val="tx1"/>
                </a:solidFill>
                <a:latin typeface="Cambria" pitchFamily="34" charset="0"/>
                <a:ea typeface="Cambria" pitchFamily="34" charset="-122"/>
                <a:cs typeface="Cambria" pitchFamily="34" charset="-120"/>
              </a:rPr>
              <a:t>10</a:t>
            </a:r>
            <a:endParaRPr lang="en-US" sz="6400" dirty="0"/>
          </a:p>
        </p:txBody>
      </p:sp>
      <p:sp>
        <p:nvSpPr>
          <p:cNvPr id="11" name="Part B unit"/>
          <p:cNvSpPr txBox="1"/>
          <p:nvPr/>
        </p:nvSpPr>
        <p:spPr>
          <a:xfrm>
            <a:off x="3639312" y="3108960"/>
            <a:ext cx="2039112" cy="320040"/>
          </a:xfrm>
          <a:prstGeom prst="rect">
            <a:avLst/>
          </a:prstGeom>
          <a:noFill/>
          <a:ln/>
        </p:spPr>
        <p:txBody>
          <a:bodyPr wrap="square" lIns="0" tIns="0" rIns="0" bIns="0" rtlCol="0" anchor="ctr"/>
          <a:lstStyle/>
          <a:p>
            <a:pPr indent="0" marL="0">
              <a:buNone/>
            </a:pPr>
            <a:r>
              <a:rPr lang="en-US" sz="1400" dirty="0">
                <a:solidFill>
                  <a:schemeClr val="tx2"/>
                </a:solidFill>
              </a:rPr>
              <a:t>marks</a:t>
            </a:r>
            <a:endParaRPr lang="en-US" sz="1400" dirty="0"/>
          </a:p>
        </p:txBody>
      </p:sp>
      <p:sp>
        <p:nvSpPr>
          <p:cNvPr id="12" name="Part B detail"/>
          <p:cNvSpPr txBox="1"/>
          <p:nvPr/>
        </p:nvSpPr>
        <p:spPr>
          <a:xfrm>
            <a:off x="3639312" y="3566160"/>
            <a:ext cx="2039112" cy="9144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Answer any 5 of 7</a:t>
            </a:r>
            <a:endParaRPr lang="en-US" sz="1500" dirty="0"/>
          </a:p>
          <a:p>
            <a:pPr indent="0" marL="0">
              <a:spcAft>
                <a:spcPts val="400"/>
              </a:spcAft>
              <a:buNone/>
            </a:pPr>
            <a:r>
              <a:rPr lang="en-US" sz="1500" dirty="0">
                <a:solidFill>
                  <a:schemeClr val="tx2"/>
                </a:solidFill>
              </a:rPr>
              <a:t>2 marks each · 2–3 sentences</a:t>
            </a:r>
            <a:endParaRPr lang="en-US" sz="1500" dirty="0"/>
          </a:p>
        </p:txBody>
      </p:sp>
      <p:sp>
        <p:nvSpPr>
          <p:cNvPr id="13" name="Part C card"/>
          <p:cNvSpPr/>
          <p:nvPr/>
        </p:nvSpPr>
        <p:spPr>
          <a:xfrm>
            <a:off x="6181344" y="1417320"/>
            <a:ext cx="2587752" cy="3246120"/>
          </a:xfrm>
          <a:prstGeom prst="roundRect">
            <a:avLst>
              <a:gd name="adj" fmla="val 4240"/>
            </a:avLst>
          </a:prstGeom>
          <a:solidFill>
            <a:srgbClr val="E8F3F1"/>
          </a:solidFill>
          <a:ln/>
        </p:spPr>
      </p:sp>
      <p:sp>
        <p:nvSpPr>
          <p:cNvPr id="14" name="Part C label"/>
          <p:cNvSpPr txBox="1"/>
          <p:nvPr/>
        </p:nvSpPr>
        <p:spPr>
          <a:xfrm>
            <a:off x="6455664" y="1691640"/>
            <a:ext cx="2039112" cy="365760"/>
          </a:xfrm>
          <a:prstGeom prst="rect">
            <a:avLst/>
          </a:prstGeom>
          <a:noFill/>
          <a:ln/>
        </p:spPr>
        <p:txBody>
          <a:bodyPr wrap="square" lIns="0" tIns="0" rIns="0" bIns="0" rtlCol="0" anchor="ctr"/>
          <a:lstStyle/>
          <a:p>
            <a:pPr indent="0" marL="0">
              <a:buNone/>
            </a:pPr>
            <a:r>
              <a:rPr lang="en-US" sz="1600" b="1" dirty="0">
                <a:solidFill>
                  <a:schemeClr val="accent1"/>
                </a:solidFill>
              </a:rPr>
              <a:t>Part C</a:t>
            </a:r>
            <a:endParaRPr lang="en-US" sz="1600" dirty="0"/>
          </a:p>
        </p:txBody>
      </p:sp>
      <p:sp>
        <p:nvSpPr>
          <p:cNvPr id="15" name="Part C marks"/>
          <p:cNvSpPr txBox="1"/>
          <p:nvPr/>
        </p:nvSpPr>
        <p:spPr>
          <a:xfrm>
            <a:off x="6455664" y="2103120"/>
            <a:ext cx="2039112" cy="1005840"/>
          </a:xfrm>
          <a:prstGeom prst="rect">
            <a:avLst/>
          </a:prstGeom>
          <a:noFill/>
          <a:ln/>
        </p:spPr>
        <p:txBody>
          <a:bodyPr wrap="square" lIns="0" tIns="0" rIns="0" bIns="0" rtlCol="0" anchor="ctr"/>
          <a:lstStyle/>
          <a:p>
            <a:pPr indent="0" marL="0">
              <a:buNone/>
            </a:pPr>
            <a:r>
              <a:rPr lang="en-US" sz="6400" b="1" dirty="0">
                <a:solidFill>
                  <a:schemeClr val="tx1"/>
                </a:solidFill>
                <a:latin typeface="Cambria" pitchFamily="34" charset="0"/>
                <a:ea typeface="Cambria" pitchFamily="34" charset="-122"/>
                <a:cs typeface="Cambria" pitchFamily="34" charset="-120"/>
              </a:rPr>
              <a:t>15</a:t>
            </a:r>
            <a:endParaRPr lang="en-US" sz="6400" dirty="0"/>
          </a:p>
        </p:txBody>
      </p:sp>
      <p:sp>
        <p:nvSpPr>
          <p:cNvPr id="16" name="Part C unit"/>
          <p:cNvSpPr txBox="1"/>
          <p:nvPr/>
        </p:nvSpPr>
        <p:spPr>
          <a:xfrm>
            <a:off x="6455664" y="3108960"/>
            <a:ext cx="2039112" cy="320040"/>
          </a:xfrm>
          <a:prstGeom prst="rect">
            <a:avLst/>
          </a:prstGeom>
          <a:noFill/>
          <a:ln/>
        </p:spPr>
        <p:txBody>
          <a:bodyPr wrap="square" lIns="0" tIns="0" rIns="0" bIns="0" rtlCol="0" anchor="ctr"/>
          <a:lstStyle/>
          <a:p>
            <a:pPr indent="0" marL="0">
              <a:buNone/>
            </a:pPr>
            <a:r>
              <a:rPr lang="en-US" sz="1400" dirty="0">
                <a:solidFill>
                  <a:schemeClr val="tx2"/>
                </a:solidFill>
              </a:rPr>
              <a:t>marks</a:t>
            </a:r>
            <a:endParaRPr lang="en-US" sz="1400" dirty="0"/>
          </a:p>
        </p:txBody>
      </p:sp>
      <p:sp>
        <p:nvSpPr>
          <p:cNvPr id="17" name="Part C detail"/>
          <p:cNvSpPr txBox="1"/>
          <p:nvPr/>
        </p:nvSpPr>
        <p:spPr>
          <a:xfrm>
            <a:off x="6455664" y="3566160"/>
            <a:ext cx="2039112" cy="9144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Answer any 5 of 7</a:t>
            </a:r>
            <a:endParaRPr lang="en-US" sz="1500" dirty="0"/>
          </a:p>
          <a:p>
            <a:pPr indent="0" marL="0">
              <a:spcAft>
                <a:spcPts val="400"/>
              </a:spcAft>
              <a:buNone/>
            </a:pPr>
            <a:r>
              <a:rPr lang="en-US" sz="1500" dirty="0">
                <a:solidFill>
                  <a:schemeClr val="tx2"/>
                </a:solidFill>
              </a:rPr>
              <a:t>3 marks each · 40–80 words</a:t>
            </a:r>
            <a:endParaRPr lang="en-US" sz="1500" dirty="0"/>
          </a:p>
        </p:txBody>
      </p:sp>
      <p:sp>
        <p:nvSpPr>
          <p:cNvPr id="18" name="Part D card"/>
          <p:cNvSpPr/>
          <p:nvPr/>
        </p:nvSpPr>
        <p:spPr>
          <a:xfrm>
            <a:off x="8997696" y="1417320"/>
            <a:ext cx="2587752" cy="3246120"/>
          </a:xfrm>
          <a:prstGeom prst="roundRect">
            <a:avLst>
              <a:gd name="adj" fmla="val 4240"/>
            </a:avLst>
          </a:prstGeom>
          <a:solidFill>
            <a:srgbClr val="FBF1D5"/>
          </a:solidFill>
          <a:ln/>
        </p:spPr>
      </p:sp>
      <p:sp>
        <p:nvSpPr>
          <p:cNvPr id="19" name="Part D label"/>
          <p:cNvSpPr txBox="1"/>
          <p:nvPr/>
        </p:nvSpPr>
        <p:spPr>
          <a:xfrm>
            <a:off x="9272016" y="1691640"/>
            <a:ext cx="2039112" cy="365760"/>
          </a:xfrm>
          <a:prstGeom prst="rect">
            <a:avLst/>
          </a:prstGeom>
          <a:noFill/>
          <a:ln/>
        </p:spPr>
        <p:txBody>
          <a:bodyPr wrap="square" lIns="0" tIns="0" rIns="0" bIns="0" rtlCol="0" anchor="ctr"/>
          <a:lstStyle/>
          <a:p>
            <a:pPr indent="0" marL="0">
              <a:buNone/>
            </a:pPr>
            <a:r>
              <a:rPr lang="en-US" sz="1600" b="1" dirty="0">
                <a:solidFill>
                  <a:schemeClr val="accent2"/>
                </a:solidFill>
              </a:rPr>
              <a:t>Part D</a:t>
            </a:r>
            <a:endParaRPr lang="en-US" sz="1600" dirty="0"/>
          </a:p>
        </p:txBody>
      </p:sp>
      <p:sp>
        <p:nvSpPr>
          <p:cNvPr id="20" name="Part D marks"/>
          <p:cNvSpPr txBox="1"/>
          <p:nvPr/>
        </p:nvSpPr>
        <p:spPr>
          <a:xfrm>
            <a:off x="9272016" y="2103120"/>
            <a:ext cx="2039112" cy="1005840"/>
          </a:xfrm>
          <a:prstGeom prst="rect">
            <a:avLst/>
          </a:prstGeom>
          <a:noFill/>
          <a:ln/>
        </p:spPr>
        <p:txBody>
          <a:bodyPr wrap="square" lIns="0" tIns="0" rIns="0" bIns="0" rtlCol="0" anchor="ctr"/>
          <a:lstStyle/>
          <a:p>
            <a:pPr indent="0" marL="0">
              <a:buNone/>
            </a:pPr>
            <a:r>
              <a:rPr lang="en-US" sz="6400" b="1" dirty="0">
                <a:solidFill>
                  <a:schemeClr val="tx1"/>
                </a:solidFill>
                <a:latin typeface="Cambria" pitchFamily="34" charset="0"/>
                <a:ea typeface="Cambria" pitchFamily="34" charset="-122"/>
                <a:cs typeface="Cambria" pitchFamily="34" charset="-120"/>
              </a:rPr>
              <a:t>25</a:t>
            </a:r>
            <a:endParaRPr lang="en-US" sz="6400" dirty="0"/>
          </a:p>
        </p:txBody>
      </p:sp>
      <p:sp>
        <p:nvSpPr>
          <p:cNvPr id="21" name="Part D unit"/>
          <p:cNvSpPr txBox="1"/>
          <p:nvPr/>
        </p:nvSpPr>
        <p:spPr>
          <a:xfrm>
            <a:off x="9272016" y="3108960"/>
            <a:ext cx="2039112" cy="320040"/>
          </a:xfrm>
          <a:prstGeom prst="rect">
            <a:avLst/>
          </a:prstGeom>
          <a:noFill/>
          <a:ln/>
        </p:spPr>
        <p:txBody>
          <a:bodyPr wrap="square" lIns="0" tIns="0" rIns="0" bIns="0" rtlCol="0" anchor="ctr"/>
          <a:lstStyle/>
          <a:p>
            <a:pPr indent="0" marL="0">
              <a:buNone/>
            </a:pPr>
            <a:r>
              <a:rPr lang="en-US" sz="1400" dirty="0">
                <a:solidFill>
                  <a:schemeClr val="tx2"/>
                </a:solidFill>
              </a:rPr>
              <a:t>marks</a:t>
            </a:r>
            <a:endParaRPr lang="en-US" sz="1400" dirty="0"/>
          </a:p>
        </p:txBody>
      </p:sp>
      <p:sp>
        <p:nvSpPr>
          <p:cNvPr id="22" name="Part D detail"/>
          <p:cNvSpPr txBox="1"/>
          <p:nvPr/>
        </p:nvSpPr>
        <p:spPr>
          <a:xfrm>
            <a:off x="9272016" y="3566160"/>
            <a:ext cx="2039112" cy="9144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Any 4 of 7  +  any 1 of 3</a:t>
            </a:r>
            <a:endParaRPr lang="en-US" sz="1500" dirty="0"/>
          </a:p>
          <a:p>
            <a:pPr indent="0" marL="0">
              <a:spcAft>
                <a:spcPts val="400"/>
              </a:spcAft>
              <a:buNone/>
            </a:pPr>
            <a:r>
              <a:rPr lang="en-US" sz="1500" dirty="0">
                <a:solidFill>
                  <a:schemeClr val="tx2"/>
                </a:solidFill>
              </a:rPr>
              <a:t>5 marks each · 200–250 words</a:t>
            </a:r>
            <a:endParaRPr lang="en-US" sz="1500" dirty="0"/>
          </a:p>
        </p:txBody>
      </p:sp>
      <p:sp>
        <p:nvSpPr>
          <p:cNvPr id="23" name="total band"/>
          <p:cNvSpPr/>
          <p:nvPr/>
        </p:nvSpPr>
        <p:spPr>
          <a:xfrm>
            <a:off x="548640" y="4937760"/>
            <a:ext cx="11064240" cy="1097280"/>
          </a:xfrm>
          <a:prstGeom prst="roundRect">
            <a:avLst>
              <a:gd name="adj" fmla="val 10000"/>
            </a:avLst>
          </a:prstGeom>
          <a:solidFill>
            <a:srgbClr val="0C1830"/>
          </a:solidFill>
          <a:ln/>
        </p:spPr>
      </p:sp>
      <p:sp>
        <p:nvSpPr>
          <p:cNvPr id="24" name="total text"/>
          <p:cNvSpPr txBox="1"/>
          <p:nvPr/>
        </p:nvSpPr>
        <p:spPr>
          <a:xfrm>
            <a:off x="868680" y="4937760"/>
            <a:ext cx="10515600" cy="10972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70 marks  </a:t>
            </a:r>
            <a:pPr indent="0" marL="0">
              <a:buNone/>
            </a:pPr>
            <a:r>
              <a:rPr lang="en-US" sz="1600" dirty="0">
                <a:solidFill>
                  <a:srgbClr val="DCE4F0"/>
                </a:solidFill>
              </a:rPr>
              <a:t>in total. Choices let you skip a few questions, never a whole chapter. Unlabelled diagrams get no marks.</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Four chapters carry most of the marks</a:t>
            </a:r>
            <a:endParaRPr lang="en-US" sz="3400" dirty="0"/>
          </a:p>
        </p:txBody>
      </p:sp>
      <p:graphicFrame>
        <p:nvGraphicFramePr>
          <p:cNvPr id="3" name="marks chart" descr=""/>
          <p:cNvGraphicFramePr/>
          <p:nvPr/>
        </p:nvGraphicFramePr>
        <p:xfrm>
          <a:off x="548640" y="128016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4" name="focus card"/>
          <p:cNvSpPr/>
          <p:nvPr/>
        </p:nvSpPr>
        <p:spPr>
          <a:xfrm>
            <a:off x="7863840" y="1371600"/>
            <a:ext cx="3749040" cy="2743200"/>
          </a:xfrm>
          <a:prstGeom prst="roundRect">
            <a:avLst>
              <a:gd name="adj" fmla="val 4000"/>
            </a:avLst>
          </a:prstGeom>
          <a:solidFill>
            <a:srgbClr val="FBF1D5"/>
          </a:solidFill>
          <a:ln/>
        </p:spPr>
      </p:sp>
      <p:sp>
        <p:nvSpPr>
          <p:cNvPr id="5" name="focus number"/>
          <p:cNvSpPr txBox="1"/>
          <p:nvPr/>
        </p:nvSpPr>
        <p:spPr>
          <a:xfrm>
            <a:off x="8183880" y="1600200"/>
            <a:ext cx="3200400" cy="1097280"/>
          </a:xfrm>
          <a:prstGeom prst="rect">
            <a:avLst/>
          </a:prstGeom>
          <a:noFill/>
          <a:ln/>
        </p:spPr>
        <p:txBody>
          <a:bodyPr wrap="square" lIns="0" tIns="0" rIns="0" bIns="0" rtlCol="0" anchor="ctr"/>
          <a:lstStyle/>
          <a:p>
            <a:pPr indent="0" marL="0">
              <a:buNone/>
            </a:pPr>
            <a:r>
              <a:rPr lang="en-US" sz="7200" b="1" dirty="0">
                <a:solidFill>
                  <a:schemeClr val="tx1"/>
                </a:solidFill>
                <a:latin typeface="Cambria" pitchFamily="34" charset="0"/>
                <a:ea typeface="Cambria" pitchFamily="34" charset="-122"/>
                <a:cs typeface="Cambria" pitchFamily="34" charset="-120"/>
              </a:rPr>
              <a:t>61</a:t>
            </a:r>
            <a:endParaRPr lang="en-US" sz="7200" dirty="0"/>
          </a:p>
        </p:txBody>
      </p:sp>
      <p:sp>
        <p:nvSpPr>
          <p:cNvPr id="6" name="focus text"/>
          <p:cNvSpPr txBox="1"/>
          <p:nvPr/>
        </p:nvSpPr>
        <p:spPr>
          <a:xfrm>
            <a:off x="8183880" y="2697480"/>
            <a:ext cx="3200400" cy="1188720"/>
          </a:xfrm>
          <a:prstGeom prst="rect">
            <a:avLst/>
          </a:prstGeom>
          <a:noFill/>
          <a:ln/>
        </p:spPr>
        <p:txBody>
          <a:bodyPr wrap="square" lIns="0" tIns="0" rIns="0" bIns="0" rtlCol="0" anchor="t"/>
          <a:lstStyle/>
          <a:p>
            <a:pPr indent="0" marL="0">
              <a:buNone/>
            </a:pPr>
            <a:r>
              <a:rPr lang="en-US" sz="1600" dirty="0">
                <a:solidFill>
                  <a:schemeClr val="tx1"/>
                </a:solidFill>
              </a:rPr>
              <a:t>of 105 marks asked come from Cell, Animal Kingdom, Biomolecules and Cell Cycle</a:t>
            </a:r>
            <a:endParaRPr lang="en-US" sz="1600" dirty="0"/>
          </a:p>
        </p:txBody>
      </p:sp>
      <p:sp>
        <p:nvSpPr>
          <p:cNvPr id="7" name="tip card"/>
          <p:cNvSpPr/>
          <p:nvPr/>
        </p:nvSpPr>
        <p:spPr>
          <a:xfrm>
            <a:off x="7863840" y="4343400"/>
            <a:ext cx="3749040" cy="1783080"/>
          </a:xfrm>
          <a:prstGeom prst="roundRect">
            <a:avLst>
              <a:gd name="adj" fmla="val 6154"/>
            </a:avLst>
          </a:prstGeom>
          <a:solidFill>
            <a:srgbClr val="E8F3F1"/>
          </a:solidFill>
          <a:ln/>
        </p:spPr>
      </p:sp>
      <p:pic>
        <p:nvPicPr>
          <p:cNvPr id="8" name="tip icon" descr="preencoded.png">    </p:cNvPr>
          <p:cNvPicPr>
            <a:picLocks noChangeAspect="1"/>
          </p:cNvPicPr>
          <p:nvPr/>
        </p:nvPicPr>
        <p:blipFill>
          <a:blip r:embed="rId2"/>
          <a:stretch>
            <a:fillRect/>
          </a:stretch>
        </p:blipFill>
        <p:spPr>
          <a:xfrm>
            <a:off x="8138160" y="4572000"/>
            <a:ext cx="411480" cy="411480"/>
          </a:xfrm>
          <a:prstGeom prst="rect">
            <a:avLst/>
          </a:prstGeom>
        </p:spPr>
      </p:pic>
      <p:sp>
        <p:nvSpPr>
          <p:cNvPr id="9" name="tip text"/>
          <p:cNvSpPr txBox="1"/>
          <p:nvPr/>
        </p:nvSpPr>
        <p:spPr>
          <a:xfrm>
            <a:off x="8686800" y="4526280"/>
            <a:ext cx="2743200" cy="1417320"/>
          </a:xfrm>
          <a:prstGeom prst="rect">
            <a:avLst/>
          </a:prstGeom>
          <a:noFill/>
          <a:ln/>
        </p:spPr>
        <p:txBody>
          <a:bodyPr wrap="square" lIns="0" tIns="0" rIns="0" bIns="0" rtlCol="0" anchor="t"/>
          <a:lstStyle/>
          <a:p>
            <a:pPr indent="0" marL="0">
              <a:buNone/>
            </a:pPr>
            <a:r>
              <a:rPr lang="en-US" sz="1500" dirty="0">
                <a:solidFill>
                  <a:schemeClr val="tx1"/>
                </a:solidFill>
              </a:rPr>
              <a:t>Study these four first, then cover the rest for the choice questions.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The Living World &amp; Biological Classification</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Chapters 1 &amp; 2</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14</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2052828"/>
            <a:ext cx="3040380" cy="566928"/>
          </a:xfrm>
          <a:prstGeom prst="roundRect">
            <a:avLst>
              <a:gd name="adj" fmla="val 50000"/>
            </a:avLst>
          </a:prstGeom>
          <a:solidFill>
            <a:srgbClr val="F4F8F8"/>
          </a:solidFill>
          <a:ln w="12700">
            <a:solidFill>
              <a:srgbClr val="D9E2E1"/>
            </a:solidFill>
            <a:prstDash val="solid"/>
          </a:ln>
        </p:spPr>
      </p:sp>
      <p:sp>
        <p:nvSpPr>
          <p:cNvPr id="12" name="topic 1"/>
          <p:cNvSpPr txBox="1"/>
          <p:nvPr/>
        </p:nvSpPr>
        <p:spPr>
          <a:xfrm>
            <a:off x="4114800" y="2052828"/>
            <a:ext cx="3040380" cy="566928"/>
          </a:xfrm>
          <a:prstGeom prst="rect">
            <a:avLst/>
          </a:prstGeom>
          <a:noFill/>
          <a:ln/>
        </p:spPr>
        <p:txBody>
          <a:bodyPr wrap="square" lIns="0" tIns="0" rIns="0" bIns="0" rtlCol="0" anchor="ctr"/>
          <a:lstStyle/>
          <a:p>
            <a:pPr algn="ctr" indent="0" marL="0">
              <a:buNone/>
            </a:pPr>
            <a:r>
              <a:rPr lang="en-US" sz="1800" b="1" dirty="0">
                <a:solidFill>
                  <a:schemeClr val="tx1"/>
                </a:solidFill>
              </a:rPr>
              <a:t>Binomial nomenclature</a:t>
            </a:r>
            <a:endParaRPr lang="en-US" sz="1800" dirty="0"/>
          </a:p>
        </p:txBody>
      </p:sp>
      <p:sp>
        <p:nvSpPr>
          <p:cNvPr id="13" name="topic chip 2"/>
          <p:cNvSpPr/>
          <p:nvPr/>
        </p:nvSpPr>
        <p:spPr>
          <a:xfrm>
            <a:off x="7338060" y="2052828"/>
            <a:ext cx="3497580" cy="566928"/>
          </a:xfrm>
          <a:prstGeom prst="roundRect">
            <a:avLst>
              <a:gd name="adj" fmla="val 50000"/>
            </a:avLst>
          </a:prstGeom>
          <a:solidFill>
            <a:srgbClr val="F4F8F8"/>
          </a:solidFill>
          <a:ln w="12700">
            <a:solidFill>
              <a:srgbClr val="D9E2E1"/>
            </a:solidFill>
            <a:prstDash val="solid"/>
          </a:ln>
        </p:spPr>
      </p:sp>
      <p:sp>
        <p:nvSpPr>
          <p:cNvPr id="14" name="topic 2"/>
          <p:cNvSpPr txBox="1"/>
          <p:nvPr/>
        </p:nvSpPr>
        <p:spPr>
          <a:xfrm>
            <a:off x="7338060" y="2052828"/>
            <a:ext cx="3497580" cy="566928"/>
          </a:xfrm>
          <a:prstGeom prst="rect">
            <a:avLst/>
          </a:prstGeom>
          <a:noFill/>
          <a:ln/>
        </p:spPr>
        <p:txBody>
          <a:bodyPr wrap="square" lIns="0" tIns="0" rIns="0" bIns="0" rtlCol="0" anchor="ctr"/>
          <a:lstStyle/>
          <a:p>
            <a:pPr algn="ctr" indent="0" marL="0">
              <a:buNone/>
            </a:pPr>
            <a:r>
              <a:rPr lang="en-US" sz="1800" b="1" dirty="0">
                <a:solidFill>
                  <a:schemeClr val="tx1"/>
                </a:solidFill>
              </a:rPr>
              <a:t>Rules of scientific names</a:t>
            </a:r>
            <a:endParaRPr lang="en-US" sz="1800" dirty="0"/>
          </a:p>
        </p:txBody>
      </p:sp>
      <p:sp>
        <p:nvSpPr>
          <p:cNvPr id="15" name="topic chip 3"/>
          <p:cNvSpPr/>
          <p:nvPr/>
        </p:nvSpPr>
        <p:spPr>
          <a:xfrm>
            <a:off x="4114800" y="2802636"/>
            <a:ext cx="1440180" cy="566928"/>
          </a:xfrm>
          <a:prstGeom prst="roundRect">
            <a:avLst>
              <a:gd name="adj" fmla="val 50000"/>
            </a:avLst>
          </a:prstGeom>
          <a:solidFill>
            <a:srgbClr val="F4F8F8"/>
          </a:solidFill>
          <a:ln w="12700">
            <a:solidFill>
              <a:srgbClr val="D9E2E1"/>
            </a:solidFill>
            <a:prstDash val="solid"/>
          </a:ln>
        </p:spPr>
      </p:sp>
      <p:sp>
        <p:nvSpPr>
          <p:cNvPr id="16" name="topic 3"/>
          <p:cNvSpPr txBox="1"/>
          <p:nvPr/>
        </p:nvSpPr>
        <p:spPr>
          <a:xfrm>
            <a:off x="4114800" y="2802636"/>
            <a:ext cx="1440180" cy="566928"/>
          </a:xfrm>
          <a:prstGeom prst="rect">
            <a:avLst/>
          </a:prstGeom>
          <a:noFill/>
          <a:ln/>
        </p:spPr>
        <p:txBody>
          <a:bodyPr wrap="square" lIns="0" tIns="0" rIns="0" bIns="0" rtlCol="0" anchor="ctr"/>
          <a:lstStyle/>
          <a:p>
            <a:pPr algn="ctr" indent="0" marL="0">
              <a:buNone/>
            </a:pPr>
            <a:r>
              <a:rPr lang="en-US" sz="1800" b="1" dirty="0">
                <a:solidFill>
                  <a:schemeClr val="tx1"/>
                </a:solidFill>
              </a:rPr>
              <a:t>Species</a:t>
            </a:r>
            <a:endParaRPr lang="en-US" sz="1800" dirty="0"/>
          </a:p>
        </p:txBody>
      </p:sp>
      <p:sp>
        <p:nvSpPr>
          <p:cNvPr id="17" name="topic chip 4"/>
          <p:cNvSpPr/>
          <p:nvPr/>
        </p:nvSpPr>
        <p:spPr>
          <a:xfrm>
            <a:off x="5737860" y="2802636"/>
            <a:ext cx="3726180" cy="566928"/>
          </a:xfrm>
          <a:prstGeom prst="roundRect">
            <a:avLst>
              <a:gd name="adj" fmla="val 50000"/>
            </a:avLst>
          </a:prstGeom>
          <a:solidFill>
            <a:srgbClr val="F4F8F8"/>
          </a:solidFill>
          <a:ln w="12700">
            <a:solidFill>
              <a:srgbClr val="D9E2E1"/>
            </a:solidFill>
            <a:prstDash val="solid"/>
          </a:ln>
        </p:spPr>
      </p:sp>
      <p:sp>
        <p:nvSpPr>
          <p:cNvPr id="18" name="topic 4"/>
          <p:cNvSpPr txBox="1"/>
          <p:nvPr/>
        </p:nvSpPr>
        <p:spPr>
          <a:xfrm>
            <a:off x="5737860" y="2802636"/>
            <a:ext cx="3726180" cy="566928"/>
          </a:xfrm>
          <a:prstGeom prst="rect">
            <a:avLst/>
          </a:prstGeom>
          <a:noFill/>
          <a:ln/>
        </p:spPr>
        <p:txBody>
          <a:bodyPr wrap="square" lIns="0" tIns="0" rIns="0" bIns="0" rtlCol="0" anchor="ctr"/>
          <a:lstStyle/>
          <a:p>
            <a:pPr algn="ctr" indent="0" marL="0">
              <a:buNone/>
            </a:pPr>
            <a:r>
              <a:rPr lang="en-US" sz="1800" b="1" dirty="0">
                <a:solidFill>
                  <a:schemeClr val="tx1"/>
                </a:solidFill>
              </a:rPr>
              <a:t>Five Kingdom Classification</a:t>
            </a:r>
            <a:endParaRPr lang="en-US" sz="1800" dirty="0"/>
          </a:p>
        </p:txBody>
      </p:sp>
      <p:sp>
        <p:nvSpPr>
          <p:cNvPr id="19" name="topic chip 5"/>
          <p:cNvSpPr/>
          <p:nvPr/>
        </p:nvSpPr>
        <p:spPr>
          <a:xfrm>
            <a:off x="4114800" y="3552444"/>
            <a:ext cx="2240280" cy="566928"/>
          </a:xfrm>
          <a:prstGeom prst="roundRect">
            <a:avLst>
              <a:gd name="adj" fmla="val 50000"/>
            </a:avLst>
          </a:prstGeom>
          <a:solidFill>
            <a:srgbClr val="F4F8F8"/>
          </a:solidFill>
          <a:ln w="12700">
            <a:solidFill>
              <a:srgbClr val="D9E2E1"/>
            </a:solidFill>
            <a:prstDash val="solid"/>
          </a:ln>
        </p:spPr>
      </p:sp>
      <p:sp>
        <p:nvSpPr>
          <p:cNvPr id="20" name="topic 5"/>
          <p:cNvSpPr txBox="1"/>
          <p:nvPr/>
        </p:nvSpPr>
        <p:spPr>
          <a:xfrm>
            <a:off x="4114800" y="3552444"/>
            <a:ext cx="2240280" cy="566928"/>
          </a:xfrm>
          <a:prstGeom prst="rect">
            <a:avLst/>
          </a:prstGeom>
          <a:noFill/>
          <a:ln/>
        </p:spPr>
        <p:txBody>
          <a:bodyPr wrap="square" lIns="0" tIns="0" rIns="0" bIns="0" rtlCol="0" anchor="ctr"/>
          <a:lstStyle/>
          <a:p>
            <a:pPr algn="ctr" indent="0" marL="0">
              <a:buNone/>
            </a:pPr>
            <a:r>
              <a:rPr lang="en-US" sz="1800" b="1" dirty="0">
                <a:solidFill>
                  <a:schemeClr val="tx1"/>
                </a:solidFill>
              </a:rPr>
              <a:t>Kingdom Monera</a:t>
            </a:r>
            <a:endParaRPr lang="en-US" sz="1800" dirty="0"/>
          </a:p>
        </p:txBody>
      </p:sp>
      <p:sp>
        <p:nvSpPr>
          <p:cNvPr id="21" name="topic chip 6"/>
          <p:cNvSpPr/>
          <p:nvPr/>
        </p:nvSpPr>
        <p:spPr>
          <a:xfrm>
            <a:off x="6537960" y="3552444"/>
            <a:ext cx="2125980" cy="566928"/>
          </a:xfrm>
          <a:prstGeom prst="roundRect">
            <a:avLst>
              <a:gd name="adj" fmla="val 50000"/>
            </a:avLst>
          </a:prstGeom>
          <a:solidFill>
            <a:srgbClr val="F4F8F8"/>
          </a:solidFill>
          <a:ln w="12700">
            <a:solidFill>
              <a:srgbClr val="D9E2E1"/>
            </a:solidFill>
            <a:prstDash val="solid"/>
          </a:ln>
        </p:spPr>
      </p:sp>
      <p:sp>
        <p:nvSpPr>
          <p:cNvPr id="22" name="topic 6"/>
          <p:cNvSpPr txBox="1"/>
          <p:nvPr/>
        </p:nvSpPr>
        <p:spPr>
          <a:xfrm>
            <a:off x="6537960" y="3552444"/>
            <a:ext cx="2125980" cy="566928"/>
          </a:xfrm>
          <a:prstGeom prst="rect">
            <a:avLst/>
          </a:prstGeom>
          <a:noFill/>
          <a:ln/>
        </p:spPr>
        <p:txBody>
          <a:bodyPr wrap="square" lIns="0" tIns="0" rIns="0" bIns="0" rtlCol="0" anchor="ctr"/>
          <a:lstStyle/>
          <a:p>
            <a:pPr algn="ctr" indent="0" marL="0">
              <a:buNone/>
            </a:pPr>
            <a:r>
              <a:rPr lang="en-US" sz="1800" b="1" dirty="0">
                <a:solidFill>
                  <a:schemeClr val="tx1"/>
                </a:solidFill>
              </a:rPr>
              <a:t>Kingdom Fungi</a:t>
            </a:r>
            <a:endParaRPr lang="en-US" sz="1800" dirty="0"/>
          </a:p>
        </p:txBody>
      </p:sp>
      <p:sp>
        <p:nvSpPr>
          <p:cNvPr id="23" name="tip box"/>
          <p:cNvSpPr/>
          <p:nvPr/>
        </p:nvSpPr>
        <p:spPr>
          <a:xfrm>
            <a:off x="4114800" y="4572000"/>
            <a:ext cx="7498080" cy="1554480"/>
          </a:xfrm>
          <a:prstGeom prst="roundRect">
            <a:avLst>
              <a:gd name="adj" fmla="val 7059"/>
            </a:avLst>
          </a:prstGeom>
          <a:solidFill>
            <a:srgbClr val="0C1830"/>
          </a:solidFill>
          <a:ln/>
        </p:spPr>
      </p:sp>
      <p:pic>
        <p:nvPicPr>
          <p:cNvPr id="24"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25"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Write scientific names correctly: Genus capitalised, species in small letters, both underlined when handwritten. For Whittaker, give criteria, merits and demerits as separate headed points.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Plant Kingdom</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 3</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10</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2052828"/>
            <a:ext cx="2125980" cy="566928"/>
          </a:xfrm>
          <a:prstGeom prst="roundRect">
            <a:avLst>
              <a:gd name="adj" fmla="val 50000"/>
            </a:avLst>
          </a:prstGeom>
          <a:solidFill>
            <a:srgbClr val="F4F8F8"/>
          </a:solidFill>
          <a:ln w="12700">
            <a:solidFill>
              <a:srgbClr val="D9E2E1"/>
            </a:solidFill>
            <a:prstDash val="solid"/>
          </a:ln>
        </p:spPr>
      </p:sp>
      <p:sp>
        <p:nvSpPr>
          <p:cNvPr id="12" name="topic 1"/>
          <p:cNvSpPr txBox="1"/>
          <p:nvPr/>
        </p:nvSpPr>
        <p:spPr>
          <a:xfrm>
            <a:off x="4114800" y="2052828"/>
            <a:ext cx="2125980" cy="566928"/>
          </a:xfrm>
          <a:prstGeom prst="rect">
            <a:avLst/>
          </a:prstGeom>
          <a:noFill/>
          <a:ln/>
        </p:spPr>
        <p:txBody>
          <a:bodyPr wrap="square" lIns="0" tIns="0" rIns="0" bIns="0" rtlCol="0" anchor="ctr"/>
          <a:lstStyle/>
          <a:p>
            <a:pPr algn="ctr" indent="0" marL="0">
              <a:buNone/>
            </a:pPr>
            <a:r>
              <a:rPr lang="en-US" sz="1800" b="1" dirty="0">
                <a:solidFill>
                  <a:schemeClr val="tx1"/>
                </a:solidFill>
              </a:rPr>
              <a:t>Chlorophyceae</a:t>
            </a:r>
            <a:endParaRPr lang="en-US" sz="1800" dirty="0"/>
          </a:p>
        </p:txBody>
      </p:sp>
      <p:sp>
        <p:nvSpPr>
          <p:cNvPr id="13" name="topic chip 2"/>
          <p:cNvSpPr/>
          <p:nvPr/>
        </p:nvSpPr>
        <p:spPr>
          <a:xfrm>
            <a:off x="6423660" y="2052828"/>
            <a:ext cx="2011680" cy="566928"/>
          </a:xfrm>
          <a:prstGeom prst="roundRect">
            <a:avLst>
              <a:gd name="adj" fmla="val 50000"/>
            </a:avLst>
          </a:prstGeom>
          <a:solidFill>
            <a:srgbClr val="F4F8F8"/>
          </a:solidFill>
          <a:ln w="12700">
            <a:solidFill>
              <a:srgbClr val="D9E2E1"/>
            </a:solidFill>
            <a:prstDash val="solid"/>
          </a:ln>
        </p:spPr>
      </p:sp>
      <p:sp>
        <p:nvSpPr>
          <p:cNvPr id="14" name="topic 2"/>
          <p:cNvSpPr txBox="1"/>
          <p:nvPr/>
        </p:nvSpPr>
        <p:spPr>
          <a:xfrm>
            <a:off x="6423660" y="2052828"/>
            <a:ext cx="2011680" cy="566928"/>
          </a:xfrm>
          <a:prstGeom prst="rect">
            <a:avLst/>
          </a:prstGeom>
          <a:noFill/>
          <a:ln/>
        </p:spPr>
        <p:txBody>
          <a:bodyPr wrap="square" lIns="0" tIns="0" rIns="0" bIns="0" rtlCol="0" anchor="ctr"/>
          <a:lstStyle/>
          <a:p>
            <a:pPr algn="ctr" indent="0" marL="0">
              <a:buNone/>
            </a:pPr>
            <a:r>
              <a:rPr lang="en-US" sz="1800" b="1" dirty="0">
                <a:solidFill>
                  <a:schemeClr val="tx1"/>
                </a:solidFill>
              </a:rPr>
              <a:t>Phaeophyceae</a:t>
            </a:r>
            <a:endParaRPr lang="en-US" sz="1800" dirty="0"/>
          </a:p>
        </p:txBody>
      </p:sp>
      <p:sp>
        <p:nvSpPr>
          <p:cNvPr id="15" name="topic chip 3"/>
          <p:cNvSpPr/>
          <p:nvPr/>
        </p:nvSpPr>
        <p:spPr>
          <a:xfrm>
            <a:off x="8618220" y="2052828"/>
            <a:ext cx="2011680" cy="566928"/>
          </a:xfrm>
          <a:prstGeom prst="roundRect">
            <a:avLst>
              <a:gd name="adj" fmla="val 50000"/>
            </a:avLst>
          </a:prstGeom>
          <a:solidFill>
            <a:srgbClr val="F4F8F8"/>
          </a:solidFill>
          <a:ln w="12700">
            <a:solidFill>
              <a:srgbClr val="D9E2E1"/>
            </a:solidFill>
            <a:prstDash val="solid"/>
          </a:ln>
        </p:spPr>
      </p:sp>
      <p:sp>
        <p:nvSpPr>
          <p:cNvPr id="16" name="topic 3"/>
          <p:cNvSpPr txBox="1"/>
          <p:nvPr/>
        </p:nvSpPr>
        <p:spPr>
          <a:xfrm>
            <a:off x="8618220" y="2052828"/>
            <a:ext cx="2011680" cy="566928"/>
          </a:xfrm>
          <a:prstGeom prst="rect">
            <a:avLst/>
          </a:prstGeom>
          <a:noFill/>
          <a:ln/>
        </p:spPr>
        <p:txBody>
          <a:bodyPr wrap="square" lIns="0" tIns="0" rIns="0" bIns="0" rtlCol="0" anchor="ctr"/>
          <a:lstStyle/>
          <a:p>
            <a:pPr algn="ctr" indent="0" marL="0">
              <a:buNone/>
            </a:pPr>
            <a:r>
              <a:rPr lang="en-US" sz="1800" b="1" dirty="0">
                <a:solidFill>
                  <a:schemeClr val="tx1"/>
                </a:solidFill>
              </a:rPr>
              <a:t>Rhodophyceae</a:t>
            </a:r>
            <a:endParaRPr lang="en-US" sz="1800" dirty="0"/>
          </a:p>
        </p:txBody>
      </p:sp>
      <p:sp>
        <p:nvSpPr>
          <p:cNvPr id="17" name="topic chip 4"/>
          <p:cNvSpPr/>
          <p:nvPr/>
        </p:nvSpPr>
        <p:spPr>
          <a:xfrm>
            <a:off x="4114800" y="2802636"/>
            <a:ext cx="3840480" cy="566928"/>
          </a:xfrm>
          <a:prstGeom prst="roundRect">
            <a:avLst>
              <a:gd name="adj" fmla="val 50000"/>
            </a:avLst>
          </a:prstGeom>
          <a:solidFill>
            <a:srgbClr val="F4F8F8"/>
          </a:solidFill>
          <a:ln w="12700">
            <a:solidFill>
              <a:srgbClr val="D9E2E1"/>
            </a:solidFill>
            <a:prstDash val="solid"/>
          </a:ln>
        </p:spPr>
      </p:sp>
      <p:sp>
        <p:nvSpPr>
          <p:cNvPr id="18" name="topic 4"/>
          <p:cNvSpPr txBox="1"/>
          <p:nvPr/>
        </p:nvSpPr>
        <p:spPr>
          <a:xfrm>
            <a:off x="4114800" y="2802636"/>
            <a:ext cx="3840480" cy="566928"/>
          </a:xfrm>
          <a:prstGeom prst="rect">
            <a:avLst/>
          </a:prstGeom>
          <a:noFill/>
          <a:ln/>
        </p:spPr>
        <p:txBody>
          <a:bodyPr wrap="square" lIns="0" tIns="0" rIns="0" bIns="0" rtlCol="0" anchor="ctr"/>
          <a:lstStyle/>
          <a:p>
            <a:pPr algn="ctr" indent="0" marL="0">
              <a:buNone/>
            </a:pPr>
            <a:r>
              <a:rPr lang="en-US" sz="1800" b="1" dirty="0">
                <a:solidFill>
                  <a:schemeClr val="tx1"/>
                </a:solidFill>
              </a:rPr>
              <a:t>Economic importance of algae</a:t>
            </a:r>
            <a:endParaRPr lang="en-US" sz="1800" dirty="0"/>
          </a:p>
        </p:txBody>
      </p:sp>
      <p:sp>
        <p:nvSpPr>
          <p:cNvPr id="19" name="topic chip 5"/>
          <p:cNvSpPr/>
          <p:nvPr/>
        </p:nvSpPr>
        <p:spPr>
          <a:xfrm>
            <a:off x="8138160" y="2802636"/>
            <a:ext cx="1783080" cy="566928"/>
          </a:xfrm>
          <a:prstGeom prst="roundRect">
            <a:avLst>
              <a:gd name="adj" fmla="val 50000"/>
            </a:avLst>
          </a:prstGeom>
          <a:solidFill>
            <a:srgbClr val="F4F8F8"/>
          </a:solidFill>
          <a:ln w="12700">
            <a:solidFill>
              <a:srgbClr val="D9E2E1"/>
            </a:solidFill>
            <a:prstDash val="solid"/>
          </a:ln>
        </p:spPr>
      </p:sp>
      <p:sp>
        <p:nvSpPr>
          <p:cNvPr id="20" name="topic 5"/>
          <p:cNvSpPr txBox="1"/>
          <p:nvPr/>
        </p:nvSpPr>
        <p:spPr>
          <a:xfrm>
            <a:off x="8138160" y="2802636"/>
            <a:ext cx="1783080" cy="566928"/>
          </a:xfrm>
          <a:prstGeom prst="rect">
            <a:avLst/>
          </a:prstGeom>
          <a:noFill/>
          <a:ln/>
        </p:spPr>
        <p:txBody>
          <a:bodyPr wrap="square" lIns="0" tIns="0" rIns="0" bIns="0" rtlCol="0" anchor="ctr"/>
          <a:lstStyle/>
          <a:p>
            <a:pPr algn="ctr" indent="0" marL="0">
              <a:buNone/>
            </a:pPr>
            <a:r>
              <a:rPr lang="en-US" sz="1800" b="1" dirty="0">
                <a:solidFill>
                  <a:schemeClr val="tx1"/>
                </a:solidFill>
              </a:rPr>
              <a:t>Bryophytes</a:t>
            </a:r>
            <a:endParaRPr lang="en-US" sz="1800" dirty="0"/>
          </a:p>
        </p:txBody>
      </p:sp>
      <p:sp>
        <p:nvSpPr>
          <p:cNvPr id="21" name="topic chip 6"/>
          <p:cNvSpPr/>
          <p:nvPr/>
        </p:nvSpPr>
        <p:spPr>
          <a:xfrm>
            <a:off x="4114800" y="3552444"/>
            <a:ext cx="1897380" cy="566928"/>
          </a:xfrm>
          <a:prstGeom prst="roundRect">
            <a:avLst>
              <a:gd name="adj" fmla="val 50000"/>
            </a:avLst>
          </a:prstGeom>
          <a:solidFill>
            <a:srgbClr val="F4F8F8"/>
          </a:solidFill>
          <a:ln w="12700">
            <a:solidFill>
              <a:srgbClr val="D9E2E1"/>
            </a:solidFill>
            <a:prstDash val="solid"/>
          </a:ln>
        </p:spPr>
      </p:sp>
      <p:sp>
        <p:nvSpPr>
          <p:cNvPr id="22" name="topic 6"/>
          <p:cNvSpPr txBox="1"/>
          <p:nvPr/>
        </p:nvSpPr>
        <p:spPr>
          <a:xfrm>
            <a:off x="4114800" y="3552444"/>
            <a:ext cx="1897380" cy="566928"/>
          </a:xfrm>
          <a:prstGeom prst="rect">
            <a:avLst/>
          </a:prstGeom>
          <a:noFill/>
          <a:ln/>
        </p:spPr>
        <p:txBody>
          <a:bodyPr wrap="square" lIns="0" tIns="0" rIns="0" bIns="0" rtlCol="0" anchor="ctr"/>
          <a:lstStyle/>
          <a:p>
            <a:pPr algn="ctr" indent="0" marL="0">
              <a:buNone/>
            </a:pPr>
            <a:r>
              <a:rPr lang="en-US" sz="1800" b="1" dirty="0">
                <a:solidFill>
                  <a:schemeClr val="tx1"/>
                </a:solidFill>
              </a:rPr>
              <a:t>Gymnosperms</a:t>
            </a:r>
            <a:endParaRPr lang="en-US" sz="1800" dirty="0"/>
          </a:p>
        </p:txBody>
      </p:sp>
      <p:sp>
        <p:nvSpPr>
          <p:cNvPr id="23" name="tip box"/>
          <p:cNvSpPr/>
          <p:nvPr/>
        </p:nvSpPr>
        <p:spPr>
          <a:xfrm>
            <a:off x="4114800" y="4572000"/>
            <a:ext cx="7498080" cy="1554480"/>
          </a:xfrm>
          <a:prstGeom prst="roundRect">
            <a:avLst>
              <a:gd name="adj" fmla="val 7059"/>
            </a:avLst>
          </a:prstGeom>
          <a:solidFill>
            <a:srgbClr val="0C1830"/>
          </a:solidFill>
          <a:ln/>
        </p:spPr>
      </p:sp>
      <p:pic>
        <p:nvPicPr>
          <p:cNvPr id="24"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25"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Learn the algae table — common name, pigments, stored food and cell wall for each class. One table can win all 5 marks in section VI.</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Animal Kingdom &amp; Structural Organisation in Animals</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Chapters 4 &amp; 7</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20</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1906524"/>
            <a:ext cx="1554480" cy="493776"/>
          </a:xfrm>
          <a:prstGeom prst="roundRect">
            <a:avLst>
              <a:gd name="adj" fmla="val 57407"/>
            </a:avLst>
          </a:prstGeom>
          <a:solidFill>
            <a:srgbClr val="F4F8F8"/>
          </a:solidFill>
          <a:ln w="12700">
            <a:solidFill>
              <a:srgbClr val="D9E2E1"/>
            </a:solidFill>
            <a:prstDash val="solid"/>
          </a:ln>
        </p:spPr>
      </p:sp>
      <p:sp>
        <p:nvSpPr>
          <p:cNvPr id="12" name="topic 1"/>
          <p:cNvSpPr txBox="1"/>
          <p:nvPr/>
        </p:nvSpPr>
        <p:spPr>
          <a:xfrm>
            <a:off x="4114800" y="1906524"/>
            <a:ext cx="1554480" cy="493776"/>
          </a:xfrm>
          <a:prstGeom prst="rect">
            <a:avLst/>
          </a:prstGeom>
          <a:noFill/>
          <a:ln/>
        </p:spPr>
        <p:txBody>
          <a:bodyPr wrap="square" lIns="0" tIns="0" rIns="0" bIns="0" rtlCol="0" anchor="ctr"/>
          <a:lstStyle/>
          <a:p>
            <a:pPr algn="ctr" indent="0" marL="0">
              <a:buNone/>
            </a:pPr>
            <a:r>
              <a:rPr lang="en-US" sz="1700" b="1" dirty="0">
                <a:solidFill>
                  <a:schemeClr val="tx1"/>
                </a:solidFill>
              </a:rPr>
              <a:t>Porifera</a:t>
            </a:r>
            <a:endParaRPr lang="en-US" sz="1700" dirty="0"/>
          </a:p>
        </p:txBody>
      </p:sp>
      <p:sp>
        <p:nvSpPr>
          <p:cNvPr id="13" name="topic chip 2"/>
          <p:cNvSpPr/>
          <p:nvPr/>
        </p:nvSpPr>
        <p:spPr>
          <a:xfrm>
            <a:off x="5797296" y="1906524"/>
            <a:ext cx="1783080" cy="493776"/>
          </a:xfrm>
          <a:prstGeom prst="roundRect">
            <a:avLst>
              <a:gd name="adj" fmla="val 57407"/>
            </a:avLst>
          </a:prstGeom>
          <a:solidFill>
            <a:srgbClr val="F4F8F8"/>
          </a:solidFill>
          <a:ln w="12700">
            <a:solidFill>
              <a:srgbClr val="D9E2E1"/>
            </a:solidFill>
            <a:prstDash val="solid"/>
          </a:ln>
        </p:spPr>
      </p:sp>
      <p:sp>
        <p:nvSpPr>
          <p:cNvPr id="14" name="topic 2"/>
          <p:cNvSpPr txBox="1"/>
          <p:nvPr/>
        </p:nvSpPr>
        <p:spPr>
          <a:xfrm>
            <a:off x="5797296" y="1906524"/>
            <a:ext cx="1783080" cy="493776"/>
          </a:xfrm>
          <a:prstGeom prst="rect">
            <a:avLst/>
          </a:prstGeom>
          <a:noFill/>
          <a:ln/>
        </p:spPr>
        <p:txBody>
          <a:bodyPr wrap="square" lIns="0" tIns="0" rIns="0" bIns="0" rtlCol="0" anchor="ctr"/>
          <a:lstStyle/>
          <a:p>
            <a:pPr algn="ctr" indent="0" marL="0">
              <a:buNone/>
            </a:pPr>
            <a:r>
              <a:rPr lang="en-US" sz="1700" b="1" dirty="0">
                <a:solidFill>
                  <a:schemeClr val="tx1"/>
                </a:solidFill>
              </a:rPr>
              <a:t>Ctenophora</a:t>
            </a:r>
            <a:endParaRPr lang="en-US" sz="1700" dirty="0"/>
          </a:p>
        </p:txBody>
      </p:sp>
      <p:sp>
        <p:nvSpPr>
          <p:cNvPr id="15" name="topic chip 3"/>
          <p:cNvSpPr/>
          <p:nvPr/>
        </p:nvSpPr>
        <p:spPr>
          <a:xfrm>
            <a:off x="7708392" y="1906524"/>
            <a:ext cx="1783080" cy="493776"/>
          </a:xfrm>
          <a:prstGeom prst="roundRect">
            <a:avLst>
              <a:gd name="adj" fmla="val 57407"/>
            </a:avLst>
          </a:prstGeom>
          <a:solidFill>
            <a:srgbClr val="F4F8F8"/>
          </a:solidFill>
          <a:ln w="12700">
            <a:solidFill>
              <a:srgbClr val="D9E2E1"/>
            </a:solidFill>
            <a:prstDash val="solid"/>
          </a:ln>
        </p:spPr>
      </p:sp>
      <p:sp>
        <p:nvSpPr>
          <p:cNvPr id="16" name="topic 3"/>
          <p:cNvSpPr txBox="1"/>
          <p:nvPr/>
        </p:nvSpPr>
        <p:spPr>
          <a:xfrm>
            <a:off x="7708392" y="1906524"/>
            <a:ext cx="1783080" cy="493776"/>
          </a:xfrm>
          <a:prstGeom prst="rect">
            <a:avLst/>
          </a:prstGeom>
          <a:noFill/>
          <a:ln/>
        </p:spPr>
        <p:txBody>
          <a:bodyPr wrap="square" lIns="0" tIns="0" rIns="0" bIns="0" rtlCol="0" anchor="ctr"/>
          <a:lstStyle/>
          <a:p>
            <a:pPr algn="ctr" indent="0" marL="0">
              <a:buNone/>
            </a:pPr>
            <a:r>
              <a:rPr lang="en-US" sz="1700" b="1" dirty="0">
                <a:solidFill>
                  <a:schemeClr val="tx1"/>
                </a:solidFill>
              </a:rPr>
              <a:t>Arthropoda</a:t>
            </a:r>
            <a:endParaRPr lang="en-US" sz="1700" dirty="0"/>
          </a:p>
        </p:txBody>
      </p:sp>
      <p:sp>
        <p:nvSpPr>
          <p:cNvPr id="17" name="topic chip 4"/>
          <p:cNvSpPr/>
          <p:nvPr/>
        </p:nvSpPr>
        <p:spPr>
          <a:xfrm>
            <a:off x="9619488" y="1906524"/>
            <a:ext cx="1554480" cy="493776"/>
          </a:xfrm>
          <a:prstGeom prst="roundRect">
            <a:avLst>
              <a:gd name="adj" fmla="val 57407"/>
            </a:avLst>
          </a:prstGeom>
          <a:solidFill>
            <a:srgbClr val="F4F8F8"/>
          </a:solidFill>
          <a:ln w="12700">
            <a:solidFill>
              <a:srgbClr val="D9E2E1"/>
            </a:solidFill>
            <a:prstDash val="solid"/>
          </a:ln>
        </p:spPr>
      </p:sp>
      <p:sp>
        <p:nvSpPr>
          <p:cNvPr id="18" name="topic 4"/>
          <p:cNvSpPr txBox="1"/>
          <p:nvPr/>
        </p:nvSpPr>
        <p:spPr>
          <a:xfrm>
            <a:off x="9619488" y="1906524"/>
            <a:ext cx="1554480" cy="493776"/>
          </a:xfrm>
          <a:prstGeom prst="rect">
            <a:avLst/>
          </a:prstGeom>
          <a:noFill/>
          <a:ln/>
        </p:spPr>
        <p:txBody>
          <a:bodyPr wrap="square" lIns="0" tIns="0" rIns="0" bIns="0" rtlCol="0" anchor="ctr"/>
          <a:lstStyle/>
          <a:p>
            <a:pPr algn="ctr" indent="0" marL="0">
              <a:buNone/>
            </a:pPr>
            <a:r>
              <a:rPr lang="en-US" sz="1700" b="1" dirty="0">
                <a:solidFill>
                  <a:schemeClr val="tx1"/>
                </a:solidFill>
              </a:rPr>
              <a:t>Mollusca</a:t>
            </a:r>
            <a:endParaRPr lang="en-US" sz="1700" dirty="0"/>
          </a:p>
        </p:txBody>
      </p:sp>
      <p:sp>
        <p:nvSpPr>
          <p:cNvPr id="19" name="topic chip 5"/>
          <p:cNvSpPr/>
          <p:nvPr/>
        </p:nvSpPr>
        <p:spPr>
          <a:xfrm>
            <a:off x="4114800" y="2528316"/>
            <a:ext cx="2125980" cy="493776"/>
          </a:xfrm>
          <a:prstGeom prst="roundRect">
            <a:avLst>
              <a:gd name="adj" fmla="val 57407"/>
            </a:avLst>
          </a:prstGeom>
          <a:solidFill>
            <a:srgbClr val="F4F8F8"/>
          </a:solidFill>
          <a:ln w="12700">
            <a:solidFill>
              <a:srgbClr val="D9E2E1"/>
            </a:solidFill>
            <a:prstDash val="solid"/>
          </a:ln>
        </p:spPr>
      </p:sp>
      <p:sp>
        <p:nvSpPr>
          <p:cNvPr id="20" name="topic 5"/>
          <p:cNvSpPr txBox="1"/>
          <p:nvPr/>
        </p:nvSpPr>
        <p:spPr>
          <a:xfrm>
            <a:off x="4114800" y="2528316"/>
            <a:ext cx="2125980" cy="493776"/>
          </a:xfrm>
          <a:prstGeom prst="rect">
            <a:avLst/>
          </a:prstGeom>
          <a:noFill/>
          <a:ln/>
        </p:spPr>
        <p:txBody>
          <a:bodyPr wrap="square" lIns="0" tIns="0" rIns="0" bIns="0" rtlCol="0" anchor="ctr"/>
          <a:lstStyle/>
          <a:p>
            <a:pPr algn="ctr" indent="0" marL="0">
              <a:buNone/>
            </a:pPr>
            <a:r>
              <a:rPr lang="en-US" sz="1700" b="1" dirty="0">
                <a:solidFill>
                  <a:schemeClr val="tx1"/>
                </a:solidFill>
              </a:rPr>
              <a:t>Echinodermata</a:t>
            </a:r>
            <a:endParaRPr lang="en-US" sz="1700" dirty="0"/>
          </a:p>
        </p:txBody>
      </p:sp>
      <p:sp>
        <p:nvSpPr>
          <p:cNvPr id="21" name="topic chip 6"/>
          <p:cNvSpPr/>
          <p:nvPr/>
        </p:nvSpPr>
        <p:spPr>
          <a:xfrm>
            <a:off x="6368796" y="2528316"/>
            <a:ext cx="2011680" cy="493776"/>
          </a:xfrm>
          <a:prstGeom prst="roundRect">
            <a:avLst>
              <a:gd name="adj" fmla="val 57407"/>
            </a:avLst>
          </a:prstGeom>
          <a:solidFill>
            <a:srgbClr val="F4F8F8"/>
          </a:solidFill>
          <a:ln w="12700">
            <a:solidFill>
              <a:srgbClr val="D9E2E1"/>
            </a:solidFill>
            <a:prstDash val="solid"/>
          </a:ln>
        </p:spPr>
      </p:sp>
      <p:sp>
        <p:nvSpPr>
          <p:cNvPr id="22" name="topic 6"/>
          <p:cNvSpPr txBox="1"/>
          <p:nvPr/>
        </p:nvSpPr>
        <p:spPr>
          <a:xfrm>
            <a:off x="6368796" y="2528316"/>
            <a:ext cx="2011680" cy="493776"/>
          </a:xfrm>
          <a:prstGeom prst="rect">
            <a:avLst/>
          </a:prstGeom>
          <a:noFill/>
          <a:ln/>
        </p:spPr>
        <p:txBody>
          <a:bodyPr wrap="square" lIns="0" tIns="0" rIns="0" bIns="0" rtlCol="0" anchor="ctr"/>
          <a:lstStyle/>
          <a:p>
            <a:pPr algn="ctr" indent="0" marL="0">
              <a:buNone/>
            </a:pPr>
            <a:r>
              <a:rPr lang="en-US" sz="1700" b="1" dirty="0">
                <a:solidFill>
                  <a:schemeClr val="tx1"/>
                </a:solidFill>
              </a:rPr>
              <a:t>Hemichordata</a:t>
            </a:r>
            <a:endParaRPr lang="en-US" sz="1700" dirty="0"/>
          </a:p>
        </p:txBody>
      </p:sp>
      <p:sp>
        <p:nvSpPr>
          <p:cNvPr id="23" name="topic chip 7"/>
          <p:cNvSpPr/>
          <p:nvPr/>
        </p:nvSpPr>
        <p:spPr>
          <a:xfrm>
            <a:off x="8508492" y="2528316"/>
            <a:ext cx="1554480" cy="493776"/>
          </a:xfrm>
          <a:prstGeom prst="roundRect">
            <a:avLst>
              <a:gd name="adj" fmla="val 57407"/>
            </a:avLst>
          </a:prstGeom>
          <a:solidFill>
            <a:srgbClr val="F4F8F8"/>
          </a:solidFill>
          <a:ln w="12700">
            <a:solidFill>
              <a:srgbClr val="D9E2E1"/>
            </a:solidFill>
            <a:prstDash val="solid"/>
          </a:ln>
        </p:spPr>
      </p:sp>
      <p:sp>
        <p:nvSpPr>
          <p:cNvPr id="24" name="topic 7"/>
          <p:cNvSpPr txBox="1"/>
          <p:nvPr/>
        </p:nvSpPr>
        <p:spPr>
          <a:xfrm>
            <a:off x="8508492" y="2528316"/>
            <a:ext cx="1554480" cy="493776"/>
          </a:xfrm>
          <a:prstGeom prst="rect">
            <a:avLst/>
          </a:prstGeom>
          <a:noFill/>
          <a:ln/>
        </p:spPr>
        <p:txBody>
          <a:bodyPr wrap="square" lIns="0" tIns="0" rIns="0" bIns="0" rtlCol="0" anchor="ctr"/>
          <a:lstStyle/>
          <a:p>
            <a:pPr algn="ctr" indent="0" marL="0">
              <a:buNone/>
            </a:pPr>
            <a:r>
              <a:rPr lang="en-US" sz="1700" b="1" dirty="0">
                <a:solidFill>
                  <a:schemeClr val="tx1"/>
                </a:solidFill>
              </a:rPr>
              <a:t>Chordata</a:t>
            </a:r>
            <a:endParaRPr lang="en-US" sz="1700" dirty="0"/>
          </a:p>
        </p:txBody>
      </p:sp>
      <p:sp>
        <p:nvSpPr>
          <p:cNvPr id="25" name="topic chip 8"/>
          <p:cNvSpPr/>
          <p:nvPr/>
        </p:nvSpPr>
        <p:spPr>
          <a:xfrm>
            <a:off x="4114800" y="3150108"/>
            <a:ext cx="3611880" cy="493776"/>
          </a:xfrm>
          <a:prstGeom prst="roundRect">
            <a:avLst>
              <a:gd name="adj" fmla="val 57407"/>
            </a:avLst>
          </a:prstGeom>
          <a:solidFill>
            <a:srgbClr val="F4F8F8"/>
          </a:solidFill>
          <a:ln w="12700">
            <a:solidFill>
              <a:srgbClr val="D9E2E1"/>
            </a:solidFill>
            <a:prstDash val="solid"/>
          </a:ln>
        </p:spPr>
      </p:sp>
      <p:sp>
        <p:nvSpPr>
          <p:cNvPr id="26" name="topic 8"/>
          <p:cNvSpPr txBox="1"/>
          <p:nvPr/>
        </p:nvSpPr>
        <p:spPr>
          <a:xfrm>
            <a:off x="4114800" y="3150108"/>
            <a:ext cx="3611880" cy="493776"/>
          </a:xfrm>
          <a:prstGeom prst="rect">
            <a:avLst/>
          </a:prstGeom>
          <a:noFill/>
          <a:ln/>
        </p:spPr>
        <p:txBody>
          <a:bodyPr wrap="square" lIns="0" tIns="0" rIns="0" bIns="0" rtlCol="0" anchor="ctr"/>
          <a:lstStyle/>
          <a:p>
            <a:pPr algn="ctr" indent="0" marL="0">
              <a:buNone/>
            </a:pPr>
            <a:r>
              <a:rPr lang="en-US" sz="1700" b="1" dirty="0">
                <a:solidFill>
                  <a:schemeClr val="tx1"/>
                </a:solidFill>
              </a:rPr>
              <a:t>Chordates vs Non-chordates</a:t>
            </a:r>
            <a:endParaRPr lang="en-US" sz="1700" dirty="0"/>
          </a:p>
        </p:txBody>
      </p:sp>
      <p:sp>
        <p:nvSpPr>
          <p:cNvPr id="27" name="topic chip 9"/>
          <p:cNvSpPr/>
          <p:nvPr/>
        </p:nvSpPr>
        <p:spPr>
          <a:xfrm>
            <a:off x="7854696" y="3150108"/>
            <a:ext cx="2240280" cy="493776"/>
          </a:xfrm>
          <a:prstGeom prst="roundRect">
            <a:avLst>
              <a:gd name="adj" fmla="val 57407"/>
            </a:avLst>
          </a:prstGeom>
          <a:solidFill>
            <a:srgbClr val="F4F8F8"/>
          </a:solidFill>
          <a:ln w="12700">
            <a:solidFill>
              <a:srgbClr val="D9E2E1"/>
            </a:solidFill>
            <a:prstDash val="solid"/>
          </a:ln>
        </p:spPr>
      </p:sp>
      <p:sp>
        <p:nvSpPr>
          <p:cNvPr id="28" name="topic 9"/>
          <p:cNvSpPr txBox="1"/>
          <p:nvPr/>
        </p:nvSpPr>
        <p:spPr>
          <a:xfrm>
            <a:off x="7854696" y="3150108"/>
            <a:ext cx="2240280" cy="493776"/>
          </a:xfrm>
          <a:prstGeom prst="rect">
            <a:avLst/>
          </a:prstGeom>
          <a:noFill/>
          <a:ln/>
        </p:spPr>
        <p:txBody>
          <a:bodyPr wrap="square" lIns="0" tIns="0" rIns="0" bIns="0" rtlCol="0" anchor="ctr"/>
          <a:lstStyle/>
          <a:p>
            <a:pPr algn="ctr" indent="0" marL="0">
              <a:buNone/>
            </a:pPr>
            <a:r>
              <a:rPr lang="en-US" sz="1700" b="1" dirty="0">
                <a:solidFill>
                  <a:schemeClr val="tx1"/>
                </a:solidFill>
              </a:rPr>
              <a:t>Class Mammalia</a:t>
            </a:r>
            <a:endParaRPr lang="en-US" sz="1700" dirty="0"/>
          </a:p>
        </p:txBody>
      </p:sp>
      <p:sp>
        <p:nvSpPr>
          <p:cNvPr id="29" name="topic chip 10"/>
          <p:cNvSpPr/>
          <p:nvPr/>
        </p:nvSpPr>
        <p:spPr>
          <a:xfrm>
            <a:off x="4114800" y="3771900"/>
            <a:ext cx="4183380" cy="493776"/>
          </a:xfrm>
          <a:prstGeom prst="roundRect">
            <a:avLst>
              <a:gd name="adj" fmla="val 57407"/>
            </a:avLst>
          </a:prstGeom>
          <a:solidFill>
            <a:srgbClr val="F4F8F8"/>
          </a:solidFill>
          <a:ln w="12700">
            <a:solidFill>
              <a:srgbClr val="D9E2E1"/>
            </a:solidFill>
            <a:prstDash val="solid"/>
          </a:ln>
        </p:spPr>
      </p:sp>
      <p:sp>
        <p:nvSpPr>
          <p:cNvPr id="30" name="topic 10"/>
          <p:cNvSpPr txBox="1"/>
          <p:nvPr/>
        </p:nvSpPr>
        <p:spPr>
          <a:xfrm>
            <a:off x="4114800" y="3771900"/>
            <a:ext cx="4183380" cy="493776"/>
          </a:xfrm>
          <a:prstGeom prst="rect">
            <a:avLst/>
          </a:prstGeom>
          <a:noFill/>
          <a:ln/>
        </p:spPr>
        <p:txBody>
          <a:bodyPr wrap="square" lIns="0" tIns="0" rIns="0" bIns="0" rtlCol="0" anchor="ctr"/>
          <a:lstStyle/>
          <a:p>
            <a:pPr algn="ctr" indent="0" marL="0">
              <a:buNone/>
            </a:pPr>
            <a:r>
              <a:rPr lang="en-US" sz="1700" b="1" dirty="0">
                <a:solidFill>
                  <a:schemeClr val="tx1"/>
                </a:solidFill>
              </a:rPr>
              <a:t>Frog: hibernation &amp; aestivation</a:t>
            </a:r>
            <a:endParaRPr lang="en-US" sz="1700" dirty="0"/>
          </a:p>
        </p:txBody>
      </p:sp>
      <p:sp>
        <p:nvSpPr>
          <p:cNvPr id="31" name="topic chip 11"/>
          <p:cNvSpPr/>
          <p:nvPr/>
        </p:nvSpPr>
        <p:spPr>
          <a:xfrm>
            <a:off x="8426196" y="3771900"/>
            <a:ext cx="3040380" cy="493776"/>
          </a:xfrm>
          <a:prstGeom prst="roundRect">
            <a:avLst>
              <a:gd name="adj" fmla="val 57407"/>
            </a:avLst>
          </a:prstGeom>
          <a:solidFill>
            <a:srgbClr val="F4F8F8"/>
          </a:solidFill>
          <a:ln w="12700">
            <a:solidFill>
              <a:srgbClr val="D9E2E1"/>
            </a:solidFill>
            <a:prstDash val="solid"/>
          </a:ln>
        </p:spPr>
      </p:sp>
      <p:sp>
        <p:nvSpPr>
          <p:cNvPr id="32" name="topic 11"/>
          <p:cNvSpPr txBox="1"/>
          <p:nvPr/>
        </p:nvSpPr>
        <p:spPr>
          <a:xfrm>
            <a:off x="8426196" y="3771900"/>
            <a:ext cx="3040380" cy="493776"/>
          </a:xfrm>
          <a:prstGeom prst="rect">
            <a:avLst/>
          </a:prstGeom>
          <a:noFill/>
          <a:ln/>
        </p:spPr>
        <p:txBody>
          <a:bodyPr wrap="square" lIns="0" tIns="0" rIns="0" bIns="0" rtlCol="0" anchor="ctr"/>
          <a:lstStyle/>
          <a:p>
            <a:pPr algn="ctr" indent="0" marL="0">
              <a:buNone/>
            </a:pPr>
            <a:r>
              <a:rPr lang="en-US" sz="1700" b="1" dirty="0">
                <a:solidFill>
                  <a:schemeClr val="tx1"/>
                </a:solidFill>
              </a:rPr>
              <a:t>Frog digestive system</a:t>
            </a:r>
            <a:endParaRPr lang="en-US" sz="1700" dirty="0"/>
          </a:p>
        </p:txBody>
      </p:sp>
      <p:sp>
        <p:nvSpPr>
          <p:cNvPr id="33" name="tip box"/>
          <p:cNvSpPr/>
          <p:nvPr/>
        </p:nvSpPr>
        <p:spPr>
          <a:xfrm>
            <a:off x="4114800" y="4572000"/>
            <a:ext cx="7498080" cy="1554480"/>
          </a:xfrm>
          <a:prstGeom prst="roundRect">
            <a:avLst>
              <a:gd name="adj" fmla="val 7059"/>
            </a:avLst>
          </a:prstGeom>
          <a:solidFill>
            <a:srgbClr val="0C1830"/>
          </a:solidFill>
          <a:ln/>
        </p:spPr>
      </p:sp>
      <p:pic>
        <p:nvPicPr>
          <p:cNvPr id="34"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35"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For every phylum remember 3 key features and 2 examples. The paper gives features and asks for the phylum, so practise both ways.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Morphology &amp; Anatomy of Flowering Plants</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Chapters 5 &amp; 6</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16</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2052828"/>
            <a:ext cx="2011680" cy="566928"/>
          </a:xfrm>
          <a:prstGeom prst="roundRect">
            <a:avLst>
              <a:gd name="adj" fmla="val 50000"/>
            </a:avLst>
          </a:prstGeom>
          <a:solidFill>
            <a:srgbClr val="F4F8F8"/>
          </a:solidFill>
          <a:ln w="12700">
            <a:solidFill>
              <a:srgbClr val="D9E2E1"/>
            </a:solidFill>
            <a:prstDash val="solid"/>
          </a:ln>
        </p:spPr>
      </p:sp>
      <p:sp>
        <p:nvSpPr>
          <p:cNvPr id="12" name="topic 1"/>
          <p:cNvSpPr txBox="1"/>
          <p:nvPr/>
        </p:nvSpPr>
        <p:spPr>
          <a:xfrm>
            <a:off x="4114800" y="2052828"/>
            <a:ext cx="2011680" cy="566928"/>
          </a:xfrm>
          <a:prstGeom prst="rect">
            <a:avLst/>
          </a:prstGeom>
          <a:noFill/>
          <a:ln/>
        </p:spPr>
        <p:txBody>
          <a:bodyPr wrap="square" lIns="0" tIns="0" rIns="0" bIns="0" rtlCol="0" anchor="ctr"/>
          <a:lstStyle/>
          <a:p>
            <a:pPr algn="ctr" indent="0" marL="0">
              <a:buNone/>
            </a:pPr>
            <a:r>
              <a:rPr lang="en-US" sz="1800" b="1" dirty="0">
                <a:solidFill>
                  <a:schemeClr val="tx1"/>
                </a:solidFill>
              </a:rPr>
              <a:t>Placentation</a:t>
            </a:r>
            <a:endParaRPr lang="en-US" sz="1800" dirty="0"/>
          </a:p>
        </p:txBody>
      </p:sp>
      <p:sp>
        <p:nvSpPr>
          <p:cNvPr id="13" name="topic chip 2"/>
          <p:cNvSpPr/>
          <p:nvPr/>
        </p:nvSpPr>
        <p:spPr>
          <a:xfrm>
            <a:off x="6309360" y="2052828"/>
            <a:ext cx="1783080" cy="566928"/>
          </a:xfrm>
          <a:prstGeom prst="roundRect">
            <a:avLst>
              <a:gd name="adj" fmla="val 50000"/>
            </a:avLst>
          </a:prstGeom>
          <a:solidFill>
            <a:srgbClr val="F4F8F8"/>
          </a:solidFill>
          <a:ln w="12700">
            <a:solidFill>
              <a:srgbClr val="D9E2E1"/>
            </a:solidFill>
            <a:prstDash val="solid"/>
          </a:ln>
        </p:spPr>
      </p:sp>
      <p:sp>
        <p:nvSpPr>
          <p:cNvPr id="14" name="topic 2"/>
          <p:cNvSpPr txBox="1"/>
          <p:nvPr/>
        </p:nvSpPr>
        <p:spPr>
          <a:xfrm>
            <a:off x="6309360" y="2052828"/>
            <a:ext cx="1783080" cy="566928"/>
          </a:xfrm>
          <a:prstGeom prst="rect">
            <a:avLst/>
          </a:prstGeom>
          <a:noFill/>
          <a:ln/>
        </p:spPr>
        <p:txBody>
          <a:bodyPr wrap="square" lIns="0" tIns="0" rIns="0" bIns="0" rtlCol="0" anchor="ctr"/>
          <a:lstStyle/>
          <a:p>
            <a:pPr algn="ctr" indent="0" marL="0">
              <a:buNone/>
            </a:pPr>
            <a:r>
              <a:rPr lang="en-US" sz="1800" b="1" dirty="0">
                <a:solidFill>
                  <a:schemeClr val="tx1"/>
                </a:solidFill>
              </a:rPr>
              <a:t>Phyllotaxy</a:t>
            </a:r>
            <a:endParaRPr lang="en-US" sz="1800" dirty="0"/>
          </a:p>
        </p:txBody>
      </p:sp>
      <p:sp>
        <p:nvSpPr>
          <p:cNvPr id="15" name="topic chip 3"/>
          <p:cNvSpPr/>
          <p:nvPr/>
        </p:nvSpPr>
        <p:spPr>
          <a:xfrm>
            <a:off x="8275320" y="2052828"/>
            <a:ext cx="1554480" cy="566928"/>
          </a:xfrm>
          <a:prstGeom prst="roundRect">
            <a:avLst>
              <a:gd name="adj" fmla="val 50000"/>
            </a:avLst>
          </a:prstGeom>
          <a:solidFill>
            <a:srgbClr val="F4F8F8"/>
          </a:solidFill>
          <a:ln w="12700">
            <a:solidFill>
              <a:srgbClr val="D9E2E1"/>
            </a:solidFill>
            <a:prstDash val="solid"/>
          </a:ln>
        </p:spPr>
      </p:sp>
      <p:sp>
        <p:nvSpPr>
          <p:cNvPr id="16" name="topic 3"/>
          <p:cNvSpPr txBox="1"/>
          <p:nvPr/>
        </p:nvSpPr>
        <p:spPr>
          <a:xfrm>
            <a:off x="8275320" y="2052828"/>
            <a:ext cx="1554480" cy="566928"/>
          </a:xfrm>
          <a:prstGeom prst="rect">
            <a:avLst/>
          </a:prstGeom>
          <a:noFill/>
          <a:ln/>
        </p:spPr>
        <p:txBody>
          <a:bodyPr wrap="square" lIns="0" tIns="0" rIns="0" bIns="0" rtlCol="0" anchor="ctr"/>
          <a:lstStyle/>
          <a:p>
            <a:pPr algn="ctr" indent="0" marL="0">
              <a:buNone/>
            </a:pPr>
            <a:r>
              <a:rPr lang="en-US" sz="1800" b="1" dirty="0">
                <a:solidFill>
                  <a:schemeClr val="tx1"/>
                </a:solidFill>
              </a:rPr>
              <a:t>Venation</a:t>
            </a:r>
            <a:endParaRPr lang="en-US" sz="1800" dirty="0"/>
          </a:p>
        </p:txBody>
      </p:sp>
      <p:sp>
        <p:nvSpPr>
          <p:cNvPr id="17" name="topic chip 4"/>
          <p:cNvSpPr/>
          <p:nvPr/>
        </p:nvSpPr>
        <p:spPr>
          <a:xfrm>
            <a:off x="10012680" y="2052828"/>
            <a:ext cx="1211580" cy="566928"/>
          </a:xfrm>
          <a:prstGeom prst="roundRect">
            <a:avLst>
              <a:gd name="adj" fmla="val 50000"/>
            </a:avLst>
          </a:prstGeom>
          <a:solidFill>
            <a:srgbClr val="F4F8F8"/>
          </a:solidFill>
          <a:ln w="12700">
            <a:solidFill>
              <a:srgbClr val="D9E2E1"/>
            </a:solidFill>
            <a:prstDash val="solid"/>
          </a:ln>
        </p:spPr>
      </p:sp>
      <p:sp>
        <p:nvSpPr>
          <p:cNvPr id="18" name="topic 4"/>
          <p:cNvSpPr txBox="1"/>
          <p:nvPr/>
        </p:nvSpPr>
        <p:spPr>
          <a:xfrm>
            <a:off x="10012680" y="2052828"/>
            <a:ext cx="1211580" cy="566928"/>
          </a:xfrm>
          <a:prstGeom prst="rect">
            <a:avLst/>
          </a:prstGeom>
          <a:noFill/>
          <a:ln/>
        </p:spPr>
        <p:txBody>
          <a:bodyPr wrap="square" lIns="0" tIns="0" rIns="0" bIns="0" rtlCol="0" anchor="ctr"/>
          <a:lstStyle/>
          <a:p>
            <a:pPr algn="ctr" indent="0" marL="0">
              <a:buNone/>
            </a:pPr>
            <a:r>
              <a:rPr lang="en-US" sz="1800" b="1" dirty="0">
                <a:solidFill>
                  <a:schemeClr val="tx1"/>
                </a:solidFill>
              </a:rPr>
              <a:t>Fruit</a:t>
            </a:r>
            <a:endParaRPr lang="en-US" sz="1800" dirty="0"/>
          </a:p>
        </p:txBody>
      </p:sp>
      <p:sp>
        <p:nvSpPr>
          <p:cNvPr id="19" name="topic chip 5"/>
          <p:cNvSpPr/>
          <p:nvPr/>
        </p:nvSpPr>
        <p:spPr>
          <a:xfrm>
            <a:off x="4114800" y="2802636"/>
            <a:ext cx="3268980" cy="566928"/>
          </a:xfrm>
          <a:prstGeom prst="roundRect">
            <a:avLst>
              <a:gd name="adj" fmla="val 50000"/>
            </a:avLst>
          </a:prstGeom>
          <a:solidFill>
            <a:srgbClr val="F4F8F8"/>
          </a:solidFill>
          <a:ln w="12700">
            <a:solidFill>
              <a:srgbClr val="D9E2E1"/>
            </a:solidFill>
            <a:prstDash val="solid"/>
          </a:ln>
        </p:spPr>
      </p:sp>
      <p:sp>
        <p:nvSpPr>
          <p:cNvPr id="20" name="topic 5"/>
          <p:cNvSpPr txBox="1"/>
          <p:nvPr/>
        </p:nvSpPr>
        <p:spPr>
          <a:xfrm>
            <a:off x="4114800" y="2802636"/>
            <a:ext cx="3268980" cy="566928"/>
          </a:xfrm>
          <a:prstGeom prst="rect">
            <a:avLst/>
          </a:prstGeom>
          <a:noFill/>
          <a:ln/>
        </p:spPr>
        <p:txBody>
          <a:bodyPr wrap="square" lIns="0" tIns="0" rIns="0" bIns="0" rtlCol="0" anchor="ctr"/>
          <a:lstStyle/>
          <a:p>
            <a:pPr algn="ctr" indent="0" marL="0">
              <a:buNone/>
            </a:pPr>
            <a:r>
              <a:rPr lang="en-US" sz="1800" b="1" dirty="0">
                <a:solidFill>
                  <a:schemeClr val="tx1"/>
                </a:solidFill>
              </a:rPr>
              <a:t>Epidermal tissue system</a:t>
            </a:r>
            <a:endParaRPr lang="en-US" sz="1800" dirty="0"/>
          </a:p>
        </p:txBody>
      </p:sp>
      <p:sp>
        <p:nvSpPr>
          <p:cNvPr id="21" name="topic chip 6"/>
          <p:cNvSpPr/>
          <p:nvPr/>
        </p:nvSpPr>
        <p:spPr>
          <a:xfrm>
            <a:off x="7566660" y="2802636"/>
            <a:ext cx="3040380" cy="566928"/>
          </a:xfrm>
          <a:prstGeom prst="roundRect">
            <a:avLst>
              <a:gd name="adj" fmla="val 50000"/>
            </a:avLst>
          </a:prstGeom>
          <a:solidFill>
            <a:srgbClr val="F4F8F8"/>
          </a:solidFill>
          <a:ln w="12700">
            <a:solidFill>
              <a:srgbClr val="D9E2E1"/>
            </a:solidFill>
            <a:prstDash val="solid"/>
          </a:ln>
        </p:spPr>
      </p:sp>
      <p:sp>
        <p:nvSpPr>
          <p:cNvPr id="22" name="topic 6"/>
          <p:cNvSpPr txBox="1"/>
          <p:nvPr/>
        </p:nvSpPr>
        <p:spPr>
          <a:xfrm>
            <a:off x="7566660" y="2802636"/>
            <a:ext cx="3040380" cy="566928"/>
          </a:xfrm>
          <a:prstGeom prst="rect">
            <a:avLst/>
          </a:prstGeom>
          <a:noFill/>
          <a:ln/>
        </p:spPr>
        <p:txBody>
          <a:bodyPr wrap="square" lIns="0" tIns="0" rIns="0" bIns="0" rtlCol="0" anchor="ctr"/>
          <a:lstStyle/>
          <a:p>
            <a:pPr algn="ctr" indent="0" marL="0">
              <a:buNone/>
            </a:pPr>
            <a:r>
              <a:rPr lang="en-US" sz="1800" b="1" dirty="0">
                <a:solidFill>
                  <a:schemeClr val="tx1"/>
                </a:solidFill>
              </a:rPr>
              <a:t>Stomata &amp; guard cells</a:t>
            </a:r>
            <a:endParaRPr lang="en-US" sz="1800" dirty="0"/>
          </a:p>
        </p:txBody>
      </p:sp>
      <p:sp>
        <p:nvSpPr>
          <p:cNvPr id="23" name="topic chip 7"/>
          <p:cNvSpPr/>
          <p:nvPr/>
        </p:nvSpPr>
        <p:spPr>
          <a:xfrm>
            <a:off x="4114800" y="3552444"/>
            <a:ext cx="1783080" cy="566928"/>
          </a:xfrm>
          <a:prstGeom prst="roundRect">
            <a:avLst>
              <a:gd name="adj" fmla="val 50000"/>
            </a:avLst>
          </a:prstGeom>
          <a:solidFill>
            <a:srgbClr val="F4F8F8"/>
          </a:solidFill>
          <a:ln w="12700">
            <a:solidFill>
              <a:srgbClr val="D9E2E1"/>
            </a:solidFill>
            <a:prstDash val="solid"/>
          </a:ln>
        </p:spPr>
      </p:sp>
      <p:sp>
        <p:nvSpPr>
          <p:cNvPr id="24" name="topic 7"/>
          <p:cNvSpPr txBox="1"/>
          <p:nvPr/>
        </p:nvSpPr>
        <p:spPr>
          <a:xfrm>
            <a:off x="4114800" y="3552444"/>
            <a:ext cx="1783080" cy="566928"/>
          </a:xfrm>
          <a:prstGeom prst="rect">
            <a:avLst/>
          </a:prstGeom>
          <a:noFill/>
          <a:ln/>
        </p:spPr>
        <p:txBody>
          <a:bodyPr wrap="square" lIns="0" tIns="0" rIns="0" bIns="0" rtlCol="0" anchor="ctr"/>
          <a:lstStyle/>
          <a:p>
            <a:pPr algn="ctr" indent="0" marL="0">
              <a:buNone/>
            </a:pPr>
            <a:r>
              <a:rPr lang="en-US" sz="1800" b="1" dirty="0">
                <a:solidFill>
                  <a:schemeClr val="tx1"/>
                </a:solidFill>
              </a:rPr>
              <a:t>Root hairs</a:t>
            </a:r>
            <a:endParaRPr lang="en-US" sz="1800" dirty="0"/>
          </a:p>
        </p:txBody>
      </p:sp>
      <p:sp>
        <p:nvSpPr>
          <p:cNvPr id="25" name="topic chip 8"/>
          <p:cNvSpPr/>
          <p:nvPr/>
        </p:nvSpPr>
        <p:spPr>
          <a:xfrm>
            <a:off x="6080760" y="3552444"/>
            <a:ext cx="4069080" cy="566928"/>
          </a:xfrm>
          <a:prstGeom prst="roundRect">
            <a:avLst>
              <a:gd name="adj" fmla="val 50000"/>
            </a:avLst>
          </a:prstGeom>
          <a:solidFill>
            <a:srgbClr val="F4F8F8"/>
          </a:solidFill>
          <a:ln w="12700">
            <a:solidFill>
              <a:srgbClr val="D9E2E1"/>
            </a:solidFill>
            <a:prstDash val="solid"/>
          </a:ln>
        </p:spPr>
      </p:sp>
      <p:sp>
        <p:nvSpPr>
          <p:cNvPr id="26" name="topic 8"/>
          <p:cNvSpPr txBox="1"/>
          <p:nvPr/>
        </p:nvSpPr>
        <p:spPr>
          <a:xfrm>
            <a:off x="6080760" y="3552444"/>
            <a:ext cx="4069080" cy="566928"/>
          </a:xfrm>
          <a:prstGeom prst="rect">
            <a:avLst/>
          </a:prstGeom>
          <a:noFill/>
          <a:ln/>
        </p:spPr>
        <p:txBody>
          <a:bodyPr wrap="square" lIns="0" tIns="0" rIns="0" bIns="0" rtlCol="0" anchor="ctr"/>
          <a:lstStyle/>
          <a:p>
            <a:pPr algn="ctr" indent="0" marL="0">
              <a:buNone/>
            </a:pPr>
            <a:r>
              <a:rPr lang="en-US" sz="1800" b="1" dirty="0">
                <a:solidFill>
                  <a:schemeClr val="tx1"/>
                </a:solidFill>
              </a:rPr>
              <a:t>Open &amp; closed vascular bundles</a:t>
            </a:r>
            <a:endParaRPr lang="en-US" sz="1800" dirty="0"/>
          </a:p>
        </p:txBody>
      </p:sp>
      <p:sp>
        <p:nvSpPr>
          <p:cNvPr id="27" name="tip box"/>
          <p:cNvSpPr/>
          <p:nvPr/>
        </p:nvSpPr>
        <p:spPr>
          <a:xfrm>
            <a:off x="4114800" y="4572000"/>
            <a:ext cx="7498080" cy="1554480"/>
          </a:xfrm>
          <a:prstGeom prst="roundRect">
            <a:avLst>
              <a:gd name="adj" fmla="val 7059"/>
            </a:avLst>
          </a:prstGeom>
          <a:solidFill>
            <a:srgbClr val="0C1830"/>
          </a:solidFill>
          <a:ln/>
        </p:spPr>
      </p:sp>
      <p:pic>
        <p:nvPicPr>
          <p:cNvPr id="28"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29"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Placentation: learn all five types with an example each — marginal (pea), axile (tomato, lemon), parietal (mustard), free central (Dianthus), basal (sunflower).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Cell: The Unit of Life</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FBF1D5"/>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2"/>
                </a:solidFill>
              </a:rPr>
              <a:t>Chapter 8 · top scorer</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21</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1906524"/>
            <a:ext cx="3840480" cy="493776"/>
          </a:xfrm>
          <a:prstGeom prst="roundRect">
            <a:avLst>
              <a:gd name="adj" fmla="val 57407"/>
            </a:avLst>
          </a:prstGeom>
          <a:solidFill>
            <a:srgbClr val="FFF8E6"/>
          </a:solidFill>
          <a:ln w="12700">
            <a:solidFill>
              <a:srgbClr val="E6CF8A"/>
            </a:solidFill>
            <a:prstDash val="solid"/>
          </a:ln>
        </p:spPr>
      </p:sp>
      <p:sp>
        <p:nvSpPr>
          <p:cNvPr id="12" name="topic 1"/>
          <p:cNvSpPr txBox="1"/>
          <p:nvPr/>
        </p:nvSpPr>
        <p:spPr>
          <a:xfrm>
            <a:off x="4114800" y="1906524"/>
            <a:ext cx="3840480" cy="493776"/>
          </a:xfrm>
          <a:prstGeom prst="rect">
            <a:avLst/>
          </a:prstGeom>
          <a:noFill/>
          <a:ln/>
        </p:spPr>
        <p:txBody>
          <a:bodyPr wrap="square" lIns="0" tIns="0" rIns="0" bIns="0" rtlCol="0" anchor="ctr"/>
          <a:lstStyle/>
          <a:p>
            <a:pPr algn="ctr" indent="0" marL="0">
              <a:buNone/>
            </a:pPr>
            <a:r>
              <a:rPr lang="en-US" sz="1700" b="1" dirty="0">
                <a:solidFill>
                  <a:schemeClr val="tx1"/>
                </a:solidFill>
              </a:rPr>
              <a:t>Prokaryotic cell &amp; mesosomes</a:t>
            </a:r>
            <a:endParaRPr lang="en-US" sz="1700" dirty="0"/>
          </a:p>
        </p:txBody>
      </p:sp>
      <p:sp>
        <p:nvSpPr>
          <p:cNvPr id="13" name="topic chip 2"/>
          <p:cNvSpPr/>
          <p:nvPr/>
        </p:nvSpPr>
        <p:spPr>
          <a:xfrm>
            <a:off x="8083296" y="1906524"/>
            <a:ext cx="2926080" cy="493776"/>
          </a:xfrm>
          <a:prstGeom prst="roundRect">
            <a:avLst>
              <a:gd name="adj" fmla="val 57407"/>
            </a:avLst>
          </a:prstGeom>
          <a:solidFill>
            <a:srgbClr val="FFF8E6"/>
          </a:solidFill>
          <a:ln w="12700">
            <a:solidFill>
              <a:srgbClr val="E6CF8A"/>
            </a:solidFill>
            <a:prstDash val="solid"/>
          </a:ln>
        </p:spPr>
      </p:sp>
      <p:sp>
        <p:nvSpPr>
          <p:cNvPr id="14" name="topic 2"/>
          <p:cNvSpPr txBox="1"/>
          <p:nvPr/>
        </p:nvSpPr>
        <p:spPr>
          <a:xfrm>
            <a:off x="8083296" y="1906524"/>
            <a:ext cx="2926080" cy="493776"/>
          </a:xfrm>
          <a:prstGeom prst="rect">
            <a:avLst/>
          </a:prstGeom>
          <a:noFill/>
          <a:ln/>
        </p:spPr>
        <p:txBody>
          <a:bodyPr wrap="square" lIns="0" tIns="0" rIns="0" bIns="0" rtlCol="0" anchor="ctr"/>
          <a:lstStyle/>
          <a:p>
            <a:pPr algn="ctr" indent="0" marL="0">
              <a:buNone/>
            </a:pPr>
            <a:r>
              <a:rPr lang="en-US" sz="1700" b="1" dirty="0">
                <a:solidFill>
                  <a:schemeClr val="tx1"/>
                </a:solidFill>
              </a:rPr>
              <a:t>Plant vs animal cell</a:t>
            </a:r>
            <a:endParaRPr lang="en-US" sz="1700" dirty="0"/>
          </a:p>
        </p:txBody>
      </p:sp>
      <p:sp>
        <p:nvSpPr>
          <p:cNvPr id="15" name="topic chip 3"/>
          <p:cNvSpPr/>
          <p:nvPr/>
        </p:nvSpPr>
        <p:spPr>
          <a:xfrm>
            <a:off x="4114800" y="2528316"/>
            <a:ext cx="2697480" cy="493776"/>
          </a:xfrm>
          <a:prstGeom prst="roundRect">
            <a:avLst>
              <a:gd name="adj" fmla="val 57407"/>
            </a:avLst>
          </a:prstGeom>
          <a:solidFill>
            <a:srgbClr val="FFF8E6"/>
          </a:solidFill>
          <a:ln w="12700">
            <a:solidFill>
              <a:srgbClr val="E6CF8A"/>
            </a:solidFill>
            <a:prstDash val="solid"/>
          </a:ln>
        </p:spPr>
      </p:sp>
      <p:sp>
        <p:nvSpPr>
          <p:cNvPr id="16" name="topic 3"/>
          <p:cNvSpPr txBox="1"/>
          <p:nvPr/>
        </p:nvSpPr>
        <p:spPr>
          <a:xfrm>
            <a:off x="4114800" y="2528316"/>
            <a:ext cx="2697480" cy="493776"/>
          </a:xfrm>
          <a:prstGeom prst="rect">
            <a:avLst/>
          </a:prstGeom>
          <a:noFill/>
          <a:ln/>
        </p:spPr>
        <p:txBody>
          <a:bodyPr wrap="square" lIns="0" tIns="0" rIns="0" bIns="0" rtlCol="0" anchor="ctr"/>
          <a:lstStyle/>
          <a:p>
            <a:pPr algn="ctr" indent="0" marL="0">
              <a:buNone/>
            </a:pPr>
            <a:r>
              <a:rPr lang="en-US" sz="1700" b="1" dirty="0">
                <a:solidFill>
                  <a:schemeClr val="tx1"/>
                </a:solidFill>
              </a:rPr>
              <a:t>Fluid Mosaic Model</a:t>
            </a:r>
            <a:endParaRPr lang="en-US" sz="1700" dirty="0"/>
          </a:p>
        </p:txBody>
      </p:sp>
      <p:sp>
        <p:nvSpPr>
          <p:cNvPr id="17" name="topic chip 4"/>
          <p:cNvSpPr/>
          <p:nvPr/>
        </p:nvSpPr>
        <p:spPr>
          <a:xfrm>
            <a:off x="6940296" y="2528316"/>
            <a:ext cx="1668780" cy="493776"/>
          </a:xfrm>
          <a:prstGeom prst="roundRect">
            <a:avLst>
              <a:gd name="adj" fmla="val 57407"/>
            </a:avLst>
          </a:prstGeom>
          <a:solidFill>
            <a:srgbClr val="FFF8E6"/>
          </a:solidFill>
          <a:ln w="12700">
            <a:solidFill>
              <a:srgbClr val="E6CF8A"/>
            </a:solidFill>
            <a:prstDash val="solid"/>
          </a:ln>
        </p:spPr>
      </p:sp>
      <p:sp>
        <p:nvSpPr>
          <p:cNvPr id="18" name="topic 4"/>
          <p:cNvSpPr txBox="1"/>
          <p:nvPr/>
        </p:nvSpPr>
        <p:spPr>
          <a:xfrm>
            <a:off x="6940296" y="2528316"/>
            <a:ext cx="1668780" cy="493776"/>
          </a:xfrm>
          <a:prstGeom prst="rect">
            <a:avLst/>
          </a:prstGeom>
          <a:noFill/>
          <a:ln/>
        </p:spPr>
        <p:txBody>
          <a:bodyPr wrap="square" lIns="0" tIns="0" rIns="0" bIns="0" rtlCol="0" anchor="ctr"/>
          <a:lstStyle/>
          <a:p>
            <a:pPr algn="ctr" indent="0" marL="0">
              <a:buNone/>
            </a:pPr>
            <a:r>
              <a:rPr lang="en-US" sz="1700" b="1" dirty="0">
                <a:solidFill>
                  <a:schemeClr val="tx1"/>
                </a:solidFill>
              </a:rPr>
              <a:t>Cell wall</a:t>
            </a:r>
            <a:endParaRPr lang="en-US" sz="1700" dirty="0"/>
          </a:p>
        </p:txBody>
      </p:sp>
      <p:sp>
        <p:nvSpPr>
          <p:cNvPr id="19" name="topic chip 5"/>
          <p:cNvSpPr/>
          <p:nvPr/>
        </p:nvSpPr>
        <p:spPr>
          <a:xfrm>
            <a:off x="8737092" y="2528316"/>
            <a:ext cx="2811780" cy="493776"/>
          </a:xfrm>
          <a:prstGeom prst="roundRect">
            <a:avLst>
              <a:gd name="adj" fmla="val 57407"/>
            </a:avLst>
          </a:prstGeom>
          <a:solidFill>
            <a:srgbClr val="FFF8E6"/>
          </a:solidFill>
          <a:ln w="12700">
            <a:solidFill>
              <a:srgbClr val="E6CF8A"/>
            </a:solidFill>
            <a:prstDash val="solid"/>
          </a:ln>
        </p:spPr>
      </p:sp>
      <p:sp>
        <p:nvSpPr>
          <p:cNvPr id="20" name="topic 5"/>
          <p:cNvSpPr txBox="1"/>
          <p:nvPr/>
        </p:nvSpPr>
        <p:spPr>
          <a:xfrm>
            <a:off x="8737092" y="2528316"/>
            <a:ext cx="2811780" cy="493776"/>
          </a:xfrm>
          <a:prstGeom prst="rect">
            <a:avLst/>
          </a:prstGeom>
          <a:noFill/>
          <a:ln/>
        </p:spPr>
        <p:txBody>
          <a:bodyPr wrap="square" lIns="0" tIns="0" rIns="0" bIns="0" rtlCol="0" anchor="ctr"/>
          <a:lstStyle/>
          <a:p>
            <a:pPr algn="ctr" indent="0" marL="0">
              <a:buNone/>
            </a:pPr>
            <a:r>
              <a:rPr lang="en-US" sz="1700" b="1" dirty="0">
                <a:solidFill>
                  <a:schemeClr val="tx1"/>
                </a:solidFill>
              </a:rPr>
              <a:t>Endomembrane system</a:t>
            </a:r>
            <a:endParaRPr lang="en-US" sz="1700" dirty="0"/>
          </a:p>
        </p:txBody>
      </p:sp>
      <p:sp>
        <p:nvSpPr>
          <p:cNvPr id="21" name="topic chip 6"/>
          <p:cNvSpPr/>
          <p:nvPr/>
        </p:nvSpPr>
        <p:spPr>
          <a:xfrm>
            <a:off x="4114800" y="3150108"/>
            <a:ext cx="2011680" cy="493776"/>
          </a:xfrm>
          <a:prstGeom prst="roundRect">
            <a:avLst>
              <a:gd name="adj" fmla="val 57407"/>
            </a:avLst>
          </a:prstGeom>
          <a:solidFill>
            <a:srgbClr val="FFF8E6"/>
          </a:solidFill>
          <a:ln w="12700">
            <a:solidFill>
              <a:srgbClr val="E6CF8A"/>
            </a:solidFill>
            <a:prstDash val="solid"/>
          </a:ln>
        </p:spPr>
      </p:sp>
      <p:sp>
        <p:nvSpPr>
          <p:cNvPr id="22" name="topic 6"/>
          <p:cNvSpPr txBox="1"/>
          <p:nvPr/>
        </p:nvSpPr>
        <p:spPr>
          <a:xfrm>
            <a:off x="4114800" y="3150108"/>
            <a:ext cx="2011680" cy="493776"/>
          </a:xfrm>
          <a:prstGeom prst="rect">
            <a:avLst/>
          </a:prstGeom>
          <a:noFill/>
          <a:ln/>
        </p:spPr>
        <p:txBody>
          <a:bodyPr wrap="square" lIns="0" tIns="0" rIns="0" bIns="0" rtlCol="0" anchor="ctr"/>
          <a:lstStyle/>
          <a:p>
            <a:pPr algn="ctr" indent="0" marL="0">
              <a:buNone/>
            </a:pPr>
            <a:r>
              <a:rPr lang="en-US" sz="1700" b="1" dirty="0">
                <a:solidFill>
                  <a:schemeClr val="tx1"/>
                </a:solidFill>
              </a:rPr>
              <a:t>Mitochondria</a:t>
            </a:r>
            <a:endParaRPr lang="en-US" sz="1700" dirty="0"/>
          </a:p>
        </p:txBody>
      </p:sp>
      <p:sp>
        <p:nvSpPr>
          <p:cNvPr id="23" name="topic chip 7"/>
          <p:cNvSpPr/>
          <p:nvPr/>
        </p:nvSpPr>
        <p:spPr>
          <a:xfrm>
            <a:off x="6254496" y="3150108"/>
            <a:ext cx="1554480" cy="493776"/>
          </a:xfrm>
          <a:prstGeom prst="roundRect">
            <a:avLst>
              <a:gd name="adj" fmla="val 57407"/>
            </a:avLst>
          </a:prstGeom>
          <a:solidFill>
            <a:srgbClr val="FFF8E6"/>
          </a:solidFill>
          <a:ln w="12700">
            <a:solidFill>
              <a:srgbClr val="E6CF8A"/>
            </a:solidFill>
            <a:prstDash val="solid"/>
          </a:ln>
        </p:spPr>
      </p:sp>
      <p:sp>
        <p:nvSpPr>
          <p:cNvPr id="24" name="topic 7"/>
          <p:cNvSpPr txBox="1"/>
          <p:nvPr/>
        </p:nvSpPr>
        <p:spPr>
          <a:xfrm>
            <a:off x="6254496" y="3150108"/>
            <a:ext cx="1554480" cy="493776"/>
          </a:xfrm>
          <a:prstGeom prst="rect">
            <a:avLst/>
          </a:prstGeom>
          <a:noFill/>
          <a:ln/>
        </p:spPr>
        <p:txBody>
          <a:bodyPr wrap="square" lIns="0" tIns="0" rIns="0" bIns="0" rtlCol="0" anchor="ctr"/>
          <a:lstStyle/>
          <a:p>
            <a:pPr algn="ctr" indent="0" marL="0">
              <a:buNone/>
            </a:pPr>
            <a:r>
              <a:rPr lang="en-US" sz="1700" b="1" dirty="0">
                <a:solidFill>
                  <a:schemeClr val="tx1"/>
                </a:solidFill>
              </a:rPr>
              <a:t>Plastids</a:t>
            </a:r>
            <a:endParaRPr lang="en-US" sz="1700" dirty="0"/>
          </a:p>
        </p:txBody>
      </p:sp>
      <p:sp>
        <p:nvSpPr>
          <p:cNvPr id="25" name="topic chip 8"/>
          <p:cNvSpPr/>
          <p:nvPr/>
        </p:nvSpPr>
        <p:spPr>
          <a:xfrm>
            <a:off x="7936992" y="3150108"/>
            <a:ext cx="1668780" cy="493776"/>
          </a:xfrm>
          <a:prstGeom prst="roundRect">
            <a:avLst>
              <a:gd name="adj" fmla="val 57407"/>
            </a:avLst>
          </a:prstGeom>
          <a:solidFill>
            <a:srgbClr val="FFF8E6"/>
          </a:solidFill>
          <a:ln w="12700">
            <a:solidFill>
              <a:srgbClr val="E6CF8A"/>
            </a:solidFill>
            <a:prstDash val="solid"/>
          </a:ln>
        </p:spPr>
      </p:sp>
      <p:sp>
        <p:nvSpPr>
          <p:cNvPr id="26" name="topic 8"/>
          <p:cNvSpPr txBox="1"/>
          <p:nvPr/>
        </p:nvSpPr>
        <p:spPr>
          <a:xfrm>
            <a:off x="7936992" y="3150108"/>
            <a:ext cx="1668780" cy="493776"/>
          </a:xfrm>
          <a:prstGeom prst="rect">
            <a:avLst/>
          </a:prstGeom>
          <a:noFill/>
          <a:ln/>
        </p:spPr>
        <p:txBody>
          <a:bodyPr wrap="square" lIns="0" tIns="0" rIns="0" bIns="0" rtlCol="0" anchor="ctr"/>
          <a:lstStyle/>
          <a:p>
            <a:pPr algn="ctr" indent="0" marL="0">
              <a:buNone/>
            </a:pPr>
            <a:r>
              <a:rPr lang="en-US" sz="1700" b="1" dirty="0">
                <a:solidFill>
                  <a:schemeClr val="tx1"/>
                </a:solidFill>
              </a:rPr>
              <a:t>Ribosomes</a:t>
            </a:r>
            <a:endParaRPr lang="en-US" sz="1700" dirty="0"/>
          </a:p>
        </p:txBody>
      </p:sp>
      <p:sp>
        <p:nvSpPr>
          <p:cNvPr id="27" name="topic chip 9"/>
          <p:cNvSpPr/>
          <p:nvPr/>
        </p:nvSpPr>
        <p:spPr>
          <a:xfrm>
            <a:off x="4114800" y="3771900"/>
            <a:ext cx="2811780" cy="493776"/>
          </a:xfrm>
          <a:prstGeom prst="roundRect">
            <a:avLst>
              <a:gd name="adj" fmla="val 57407"/>
            </a:avLst>
          </a:prstGeom>
          <a:solidFill>
            <a:srgbClr val="FFF8E6"/>
          </a:solidFill>
          <a:ln w="12700">
            <a:solidFill>
              <a:srgbClr val="E6CF8A"/>
            </a:solidFill>
            <a:prstDash val="solid"/>
          </a:ln>
        </p:spPr>
      </p:sp>
      <p:sp>
        <p:nvSpPr>
          <p:cNvPr id="28" name="topic 9"/>
          <p:cNvSpPr txBox="1"/>
          <p:nvPr/>
        </p:nvSpPr>
        <p:spPr>
          <a:xfrm>
            <a:off x="4114800" y="3771900"/>
            <a:ext cx="2811780" cy="493776"/>
          </a:xfrm>
          <a:prstGeom prst="rect">
            <a:avLst/>
          </a:prstGeom>
          <a:noFill/>
          <a:ln/>
        </p:spPr>
        <p:txBody>
          <a:bodyPr wrap="square" lIns="0" tIns="0" rIns="0" bIns="0" rtlCol="0" anchor="ctr"/>
          <a:lstStyle/>
          <a:p>
            <a:pPr algn="ctr" indent="0" marL="0">
              <a:buNone/>
            </a:pPr>
            <a:r>
              <a:rPr lang="en-US" sz="1700" b="1" dirty="0">
                <a:solidFill>
                  <a:schemeClr val="tx1"/>
                </a:solidFill>
              </a:rPr>
              <a:t>Nucleus &amp; nucleolus</a:t>
            </a:r>
            <a:endParaRPr lang="en-US" sz="1700" dirty="0"/>
          </a:p>
        </p:txBody>
      </p:sp>
      <p:sp>
        <p:nvSpPr>
          <p:cNvPr id="29" name="tip box"/>
          <p:cNvSpPr/>
          <p:nvPr/>
        </p:nvSpPr>
        <p:spPr>
          <a:xfrm>
            <a:off x="4114800" y="4572000"/>
            <a:ext cx="7498080" cy="1554480"/>
          </a:xfrm>
          <a:prstGeom prst="roundRect">
            <a:avLst>
              <a:gd name="adj" fmla="val 7059"/>
            </a:avLst>
          </a:prstGeom>
          <a:solidFill>
            <a:srgbClr val="0C1830"/>
          </a:solidFill>
          <a:ln/>
        </p:spPr>
      </p:sp>
      <p:pic>
        <p:nvPicPr>
          <p:cNvPr id="30"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31"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Know where each structure lives: cristae – mitochondria, thylakoids – chloroplast, cisternae – Golgi body, tonoplast – vacuole.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Biomolecules</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 9</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12</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2052828"/>
            <a:ext cx="1554480" cy="566928"/>
          </a:xfrm>
          <a:prstGeom prst="roundRect">
            <a:avLst>
              <a:gd name="adj" fmla="val 50000"/>
            </a:avLst>
          </a:prstGeom>
          <a:solidFill>
            <a:srgbClr val="F4F8F8"/>
          </a:solidFill>
          <a:ln w="12700">
            <a:solidFill>
              <a:srgbClr val="D9E2E1"/>
            </a:solidFill>
            <a:prstDash val="solid"/>
          </a:ln>
        </p:spPr>
      </p:sp>
      <p:sp>
        <p:nvSpPr>
          <p:cNvPr id="12" name="topic 1"/>
          <p:cNvSpPr txBox="1"/>
          <p:nvPr/>
        </p:nvSpPr>
        <p:spPr>
          <a:xfrm>
            <a:off x="4114800" y="2052828"/>
            <a:ext cx="1554480" cy="566928"/>
          </a:xfrm>
          <a:prstGeom prst="rect">
            <a:avLst/>
          </a:prstGeom>
          <a:noFill/>
          <a:ln/>
        </p:spPr>
        <p:txBody>
          <a:bodyPr wrap="square" lIns="0" tIns="0" rIns="0" bIns="0" rtlCol="0" anchor="ctr"/>
          <a:lstStyle/>
          <a:p>
            <a:pPr algn="ctr" indent="0" marL="0">
              <a:buNone/>
            </a:pPr>
            <a:r>
              <a:rPr lang="en-US" sz="1800" b="1" dirty="0">
                <a:solidFill>
                  <a:schemeClr val="tx1"/>
                </a:solidFill>
              </a:rPr>
              <a:t>Proteins</a:t>
            </a:r>
            <a:endParaRPr lang="en-US" sz="1800" dirty="0"/>
          </a:p>
        </p:txBody>
      </p:sp>
      <p:sp>
        <p:nvSpPr>
          <p:cNvPr id="13" name="topic chip 2"/>
          <p:cNvSpPr/>
          <p:nvPr/>
        </p:nvSpPr>
        <p:spPr>
          <a:xfrm>
            <a:off x="5852160" y="2052828"/>
            <a:ext cx="2354580" cy="566928"/>
          </a:xfrm>
          <a:prstGeom prst="roundRect">
            <a:avLst>
              <a:gd name="adj" fmla="val 50000"/>
            </a:avLst>
          </a:prstGeom>
          <a:solidFill>
            <a:srgbClr val="F4F8F8"/>
          </a:solidFill>
          <a:ln w="12700">
            <a:solidFill>
              <a:srgbClr val="D9E2E1"/>
            </a:solidFill>
            <a:prstDash val="solid"/>
          </a:ln>
        </p:spPr>
      </p:sp>
      <p:sp>
        <p:nvSpPr>
          <p:cNvPr id="14" name="topic 2"/>
          <p:cNvSpPr txBox="1"/>
          <p:nvPr/>
        </p:nvSpPr>
        <p:spPr>
          <a:xfrm>
            <a:off x="5852160" y="2052828"/>
            <a:ext cx="2354580" cy="566928"/>
          </a:xfrm>
          <a:prstGeom prst="rect">
            <a:avLst/>
          </a:prstGeom>
          <a:noFill/>
          <a:ln/>
        </p:spPr>
        <p:txBody>
          <a:bodyPr wrap="square" lIns="0" tIns="0" rIns="0" bIns="0" rtlCol="0" anchor="ctr"/>
          <a:lstStyle/>
          <a:p>
            <a:pPr algn="ctr" indent="0" marL="0">
              <a:buNone/>
            </a:pPr>
            <a:r>
              <a:rPr lang="en-US" sz="1800" b="1" dirty="0">
                <a:solidFill>
                  <a:schemeClr val="tx1"/>
                </a:solidFill>
              </a:rPr>
              <a:t>Polysaccharides</a:t>
            </a:r>
            <a:endParaRPr lang="en-US" sz="1800" dirty="0"/>
          </a:p>
        </p:txBody>
      </p:sp>
      <p:sp>
        <p:nvSpPr>
          <p:cNvPr id="15" name="topic chip 3"/>
          <p:cNvSpPr/>
          <p:nvPr/>
        </p:nvSpPr>
        <p:spPr>
          <a:xfrm>
            <a:off x="8389620" y="2052828"/>
            <a:ext cx="2926080" cy="566928"/>
          </a:xfrm>
          <a:prstGeom prst="roundRect">
            <a:avLst>
              <a:gd name="adj" fmla="val 50000"/>
            </a:avLst>
          </a:prstGeom>
          <a:solidFill>
            <a:srgbClr val="F4F8F8"/>
          </a:solidFill>
          <a:ln w="12700">
            <a:solidFill>
              <a:srgbClr val="D9E2E1"/>
            </a:solidFill>
            <a:prstDash val="solid"/>
          </a:ln>
        </p:spPr>
      </p:sp>
      <p:sp>
        <p:nvSpPr>
          <p:cNvPr id="16" name="topic 3"/>
          <p:cNvSpPr txBox="1"/>
          <p:nvPr/>
        </p:nvSpPr>
        <p:spPr>
          <a:xfrm>
            <a:off x="8389620" y="2052828"/>
            <a:ext cx="2926080" cy="566928"/>
          </a:xfrm>
          <a:prstGeom prst="rect">
            <a:avLst/>
          </a:prstGeom>
          <a:noFill/>
          <a:ln/>
        </p:spPr>
        <p:txBody>
          <a:bodyPr wrap="square" lIns="0" tIns="0" rIns="0" bIns="0" rtlCol="0" anchor="ctr"/>
          <a:lstStyle/>
          <a:p>
            <a:pPr algn="ctr" indent="0" marL="0">
              <a:buNone/>
            </a:pPr>
            <a:r>
              <a:rPr lang="en-US" sz="1800" b="1" dirty="0">
                <a:solidFill>
                  <a:schemeClr val="tx1"/>
                </a:solidFill>
              </a:rPr>
              <a:t>Nucleotide structure</a:t>
            </a:r>
            <a:endParaRPr lang="en-US" sz="1800" dirty="0"/>
          </a:p>
        </p:txBody>
      </p:sp>
      <p:sp>
        <p:nvSpPr>
          <p:cNvPr id="17" name="topic chip 4"/>
          <p:cNvSpPr/>
          <p:nvPr/>
        </p:nvSpPr>
        <p:spPr>
          <a:xfrm>
            <a:off x="4114800" y="2802636"/>
            <a:ext cx="3040380" cy="566928"/>
          </a:xfrm>
          <a:prstGeom prst="roundRect">
            <a:avLst>
              <a:gd name="adj" fmla="val 50000"/>
            </a:avLst>
          </a:prstGeom>
          <a:solidFill>
            <a:srgbClr val="F4F8F8"/>
          </a:solidFill>
          <a:ln w="12700">
            <a:solidFill>
              <a:srgbClr val="D9E2E1"/>
            </a:solidFill>
            <a:prstDash val="solid"/>
          </a:ln>
        </p:spPr>
      </p:sp>
      <p:sp>
        <p:nvSpPr>
          <p:cNvPr id="18" name="topic 4"/>
          <p:cNvSpPr txBox="1"/>
          <p:nvPr/>
        </p:nvSpPr>
        <p:spPr>
          <a:xfrm>
            <a:off x="4114800" y="2802636"/>
            <a:ext cx="3040380" cy="566928"/>
          </a:xfrm>
          <a:prstGeom prst="rect">
            <a:avLst/>
          </a:prstGeom>
          <a:noFill/>
          <a:ln/>
        </p:spPr>
        <p:txBody>
          <a:bodyPr wrap="square" lIns="0" tIns="0" rIns="0" bIns="0" rtlCol="0" anchor="ctr"/>
          <a:lstStyle/>
          <a:p>
            <a:pPr algn="ctr" indent="0" marL="0">
              <a:buNone/>
            </a:pPr>
            <a:r>
              <a:rPr lang="en-US" sz="1800" b="1" dirty="0">
                <a:solidFill>
                  <a:schemeClr val="tx1"/>
                </a:solidFill>
              </a:rPr>
              <a:t>Purines &amp; pyrimidines</a:t>
            </a:r>
            <a:endParaRPr lang="en-US" sz="1800" dirty="0"/>
          </a:p>
        </p:txBody>
      </p:sp>
      <p:sp>
        <p:nvSpPr>
          <p:cNvPr id="19" name="topic chip 5"/>
          <p:cNvSpPr/>
          <p:nvPr/>
        </p:nvSpPr>
        <p:spPr>
          <a:xfrm>
            <a:off x="7338060" y="2802636"/>
            <a:ext cx="1440180" cy="566928"/>
          </a:xfrm>
          <a:prstGeom prst="roundRect">
            <a:avLst>
              <a:gd name="adj" fmla="val 50000"/>
            </a:avLst>
          </a:prstGeom>
          <a:solidFill>
            <a:srgbClr val="F4F8F8"/>
          </a:solidFill>
          <a:ln w="12700">
            <a:solidFill>
              <a:srgbClr val="D9E2E1"/>
            </a:solidFill>
            <a:prstDash val="solid"/>
          </a:ln>
        </p:spPr>
      </p:sp>
      <p:sp>
        <p:nvSpPr>
          <p:cNvPr id="20" name="topic 5"/>
          <p:cNvSpPr txBox="1"/>
          <p:nvPr/>
        </p:nvSpPr>
        <p:spPr>
          <a:xfrm>
            <a:off x="7338060" y="2802636"/>
            <a:ext cx="1440180" cy="566928"/>
          </a:xfrm>
          <a:prstGeom prst="rect">
            <a:avLst/>
          </a:prstGeom>
          <a:noFill/>
          <a:ln/>
        </p:spPr>
        <p:txBody>
          <a:bodyPr wrap="square" lIns="0" tIns="0" rIns="0" bIns="0" rtlCol="0" anchor="ctr"/>
          <a:lstStyle/>
          <a:p>
            <a:pPr algn="ctr" indent="0" marL="0">
              <a:buNone/>
            </a:pPr>
            <a:r>
              <a:rPr lang="en-US" sz="1800" b="1" dirty="0">
                <a:solidFill>
                  <a:schemeClr val="tx1"/>
                </a:solidFill>
              </a:rPr>
              <a:t>Enzymes</a:t>
            </a:r>
            <a:endParaRPr lang="en-US" sz="1800" dirty="0"/>
          </a:p>
        </p:txBody>
      </p:sp>
      <p:sp>
        <p:nvSpPr>
          <p:cNvPr id="21" name="topic chip 6"/>
          <p:cNvSpPr/>
          <p:nvPr/>
        </p:nvSpPr>
        <p:spPr>
          <a:xfrm>
            <a:off x="4114800" y="3552444"/>
            <a:ext cx="4411980" cy="566928"/>
          </a:xfrm>
          <a:prstGeom prst="roundRect">
            <a:avLst>
              <a:gd name="adj" fmla="val 50000"/>
            </a:avLst>
          </a:prstGeom>
          <a:solidFill>
            <a:srgbClr val="F4F8F8"/>
          </a:solidFill>
          <a:ln w="12700">
            <a:solidFill>
              <a:srgbClr val="D9E2E1"/>
            </a:solidFill>
            <a:prstDash val="solid"/>
          </a:ln>
        </p:spPr>
      </p:sp>
      <p:sp>
        <p:nvSpPr>
          <p:cNvPr id="22" name="topic 6"/>
          <p:cNvSpPr txBox="1"/>
          <p:nvPr/>
        </p:nvSpPr>
        <p:spPr>
          <a:xfrm>
            <a:off x="4114800" y="3552444"/>
            <a:ext cx="4411980" cy="566928"/>
          </a:xfrm>
          <a:prstGeom prst="rect">
            <a:avLst/>
          </a:prstGeom>
          <a:noFill/>
          <a:ln/>
        </p:spPr>
        <p:txBody>
          <a:bodyPr wrap="square" lIns="0" tIns="0" rIns="0" bIns="0" rtlCol="0" anchor="ctr"/>
          <a:lstStyle/>
          <a:p>
            <a:pPr algn="ctr" indent="0" marL="0">
              <a:buNone/>
            </a:pPr>
            <a:r>
              <a:rPr lang="en-US" sz="1800" b="1" dirty="0">
                <a:solidFill>
                  <a:schemeClr val="tx1"/>
                </a:solidFill>
              </a:rPr>
              <a:t>Factors affecting enzyme activity</a:t>
            </a:r>
            <a:endParaRPr lang="en-US" sz="1800" dirty="0"/>
          </a:p>
        </p:txBody>
      </p:sp>
      <p:sp>
        <p:nvSpPr>
          <p:cNvPr id="23" name="tip box"/>
          <p:cNvSpPr/>
          <p:nvPr/>
        </p:nvSpPr>
        <p:spPr>
          <a:xfrm>
            <a:off x="4114800" y="4572000"/>
            <a:ext cx="7498080" cy="1554480"/>
          </a:xfrm>
          <a:prstGeom prst="roundRect">
            <a:avLst>
              <a:gd name="adj" fmla="val 7059"/>
            </a:avLst>
          </a:prstGeom>
          <a:solidFill>
            <a:srgbClr val="0C1830"/>
          </a:solidFill>
          <a:ln/>
        </p:spPr>
      </p:sp>
      <p:pic>
        <p:nvPicPr>
          <p:cNvPr id="24"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25"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For enzyme factors, sketch a small graph for temperature, pH and substrate concentration. A graph earns marks faster than a paragraph.</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Cell Cycle &amp; Cell Division</a:t>
            </a:r>
            <a:endParaRPr lang="en-US" sz="3400" dirty="0"/>
          </a:p>
        </p:txBody>
      </p:sp>
      <p:sp>
        <p:nvSpPr>
          <p:cNvPr id="3" name="chapter panel"/>
          <p:cNvSpPr/>
          <p:nvPr/>
        </p:nvSpPr>
        <p:spPr>
          <a:xfrm>
            <a:off x="548640" y="1325880"/>
            <a:ext cx="3200400" cy="4800600"/>
          </a:xfrm>
          <a:prstGeom prst="roundRect">
            <a:avLst>
              <a:gd name="adj" fmla="val 3429"/>
            </a:avLst>
          </a:prstGeom>
          <a:solidFill>
            <a:srgbClr val="E8F3F1"/>
          </a:solidFill>
          <a:ln/>
        </p:spPr>
      </p:sp>
      <p:sp>
        <p:nvSpPr>
          <p:cNvPr id="4" name="chapter circle"/>
          <p:cNvSpPr/>
          <p:nvPr/>
        </p:nvSpPr>
        <p:spPr>
          <a:xfrm>
            <a:off x="868680" y="1645920"/>
            <a:ext cx="914400" cy="914400"/>
          </a:xfrm>
          <a:prstGeom prst="ellipse">
            <a:avLst/>
          </a:prstGeom>
          <a:solidFill>
            <a:srgbClr val="FFFFFF"/>
          </a:solidFill>
          <a:ln/>
        </p:spPr>
      </p:sp>
      <p:pic>
        <p:nvPicPr>
          <p:cNvPr id="5" name="chapter icon" descr="preencoded.png">    </p:cNvPr>
          <p:cNvPicPr>
            <a:picLocks noChangeAspect="1"/>
          </p:cNvPicPr>
          <p:nvPr/>
        </p:nvPicPr>
        <p:blipFill>
          <a:blip r:embed="rId1"/>
          <a:stretch>
            <a:fillRect/>
          </a:stretch>
        </p:blipFill>
        <p:spPr>
          <a:xfrm>
            <a:off x="1088136" y="1865376"/>
            <a:ext cx="475488" cy="475488"/>
          </a:xfrm>
          <a:prstGeom prst="rect">
            <a:avLst/>
          </a:prstGeom>
        </p:spPr>
      </p:pic>
      <p:sp>
        <p:nvSpPr>
          <p:cNvPr id="6" name="chapter tag"/>
          <p:cNvSpPr txBox="1"/>
          <p:nvPr/>
        </p:nvSpPr>
        <p:spPr>
          <a:xfrm>
            <a:off x="868680" y="2743200"/>
            <a:ext cx="2651760" cy="365760"/>
          </a:xfrm>
          <a:prstGeom prst="rect">
            <a:avLst/>
          </a:prstGeom>
          <a:noFill/>
          <a:ln/>
        </p:spPr>
        <p:txBody>
          <a:bodyPr wrap="square" lIns="0" tIns="0" rIns="0" bIns="0" rtlCol="0" anchor="ctr"/>
          <a:lstStyle/>
          <a:p>
            <a:pPr indent="0" marL="0">
              <a:buNone/>
            </a:pPr>
            <a:r>
              <a:rPr lang="en-US" sz="1500" b="1" dirty="0">
                <a:solidFill>
                  <a:schemeClr val="accent1"/>
                </a:solidFill>
              </a:rPr>
              <a:t>Chapter 10</a:t>
            </a:r>
            <a:endParaRPr lang="en-US" sz="1500" dirty="0"/>
          </a:p>
        </p:txBody>
      </p:sp>
      <p:sp>
        <p:nvSpPr>
          <p:cNvPr id="7" name="marks number"/>
          <p:cNvSpPr txBox="1"/>
          <p:nvPr/>
        </p:nvSpPr>
        <p:spPr>
          <a:xfrm>
            <a:off x="868680" y="3200400"/>
            <a:ext cx="2651760" cy="1188720"/>
          </a:xfrm>
          <a:prstGeom prst="rect">
            <a:avLst/>
          </a:prstGeom>
          <a:noFill/>
          <a:ln/>
        </p:spPr>
        <p:txBody>
          <a:bodyPr wrap="square" lIns="0" tIns="0" rIns="0" bIns="0" rtlCol="0" anchor="ctr"/>
          <a:lstStyle/>
          <a:p>
            <a:pPr indent="0" marL="0">
              <a:buNone/>
            </a:pPr>
            <a:r>
              <a:rPr lang="en-US" sz="8000" b="1" dirty="0">
                <a:solidFill>
                  <a:schemeClr val="tx1"/>
                </a:solidFill>
                <a:latin typeface="Cambria" pitchFamily="34" charset="0"/>
                <a:ea typeface="Cambria" pitchFamily="34" charset="-122"/>
                <a:cs typeface="Cambria" pitchFamily="34" charset="-120"/>
              </a:rPr>
              <a:t>12</a:t>
            </a:r>
            <a:endParaRPr lang="en-US" sz="8000" dirty="0"/>
          </a:p>
        </p:txBody>
      </p:sp>
      <p:sp>
        <p:nvSpPr>
          <p:cNvPr id="8" name="marks label"/>
          <p:cNvSpPr txBox="1"/>
          <p:nvPr/>
        </p:nvSpPr>
        <p:spPr>
          <a:xfrm>
            <a:off x="868680" y="4434840"/>
            <a:ext cx="2651760" cy="365760"/>
          </a:xfrm>
          <a:prstGeom prst="rect">
            <a:avLst/>
          </a:prstGeom>
          <a:noFill/>
          <a:ln/>
        </p:spPr>
        <p:txBody>
          <a:bodyPr wrap="square" lIns="0" tIns="0" rIns="0" bIns="0" rtlCol="0" anchor="ctr"/>
          <a:lstStyle/>
          <a:p>
            <a:pPr indent="0" marL="0">
              <a:buNone/>
            </a:pPr>
            <a:r>
              <a:rPr lang="en-US" sz="1500" dirty="0">
                <a:solidFill>
                  <a:schemeClr val="tx2"/>
                </a:solidFill>
              </a:rPr>
              <a:t>marks asked in the paper</a:t>
            </a:r>
            <a:endParaRPr lang="en-US" sz="1500" dirty="0"/>
          </a:p>
        </p:txBody>
      </p:sp>
      <p:sp>
        <p:nvSpPr>
          <p:cNvPr id="9" name="marks note"/>
          <p:cNvSpPr txBox="1"/>
          <p:nvPr/>
        </p:nvSpPr>
        <p:spPr>
          <a:xfrm>
            <a:off x="868680" y="4800600"/>
            <a:ext cx="2651760" cy="320040"/>
          </a:xfrm>
          <a:prstGeom prst="rect">
            <a:avLst/>
          </a:prstGeom>
          <a:noFill/>
          <a:ln/>
        </p:spPr>
        <p:txBody>
          <a:bodyPr wrap="square" lIns="0" tIns="0" rIns="0" bIns="0" rtlCol="0" anchor="ctr"/>
          <a:lstStyle/>
          <a:p>
            <a:pPr indent="0" marL="0">
              <a:buNone/>
            </a:pPr>
            <a:r>
              <a:rPr lang="en-US" sz="1200" i="1" dirty="0">
                <a:solidFill>
                  <a:schemeClr val="tx2"/>
                </a:solidFill>
              </a:rPr>
              <a:t>incl. choice questions</a:t>
            </a:r>
            <a:endParaRPr lang="en-US" sz="1200" dirty="0"/>
          </a:p>
        </p:txBody>
      </p:sp>
      <p:sp>
        <p:nvSpPr>
          <p:cNvPr id="10" name="topics label"/>
          <p:cNvSpPr txBox="1"/>
          <p:nvPr/>
        </p:nvSpPr>
        <p:spPr>
          <a:xfrm>
            <a:off x="4114800" y="137160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TOPICS TO PRACTISE</a:t>
            </a:r>
            <a:endParaRPr lang="en-US" sz="1300" dirty="0"/>
          </a:p>
        </p:txBody>
      </p:sp>
      <p:sp>
        <p:nvSpPr>
          <p:cNvPr id="11" name="topic chip 1"/>
          <p:cNvSpPr/>
          <p:nvPr/>
        </p:nvSpPr>
        <p:spPr>
          <a:xfrm>
            <a:off x="4114800" y="2052828"/>
            <a:ext cx="2926080" cy="566928"/>
          </a:xfrm>
          <a:prstGeom prst="roundRect">
            <a:avLst>
              <a:gd name="adj" fmla="val 50000"/>
            </a:avLst>
          </a:prstGeom>
          <a:solidFill>
            <a:srgbClr val="F4F8F8"/>
          </a:solidFill>
          <a:ln w="12700">
            <a:solidFill>
              <a:srgbClr val="D9E2E1"/>
            </a:solidFill>
            <a:prstDash val="solid"/>
          </a:ln>
        </p:spPr>
      </p:sp>
      <p:sp>
        <p:nvSpPr>
          <p:cNvPr id="12" name="topic 1"/>
          <p:cNvSpPr txBox="1"/>
          <p:nvPr/>
        </p:nvSpPr>
        <p:spPr>
          <a:xfrm>
            <a:off x="4114800" y="2052828"/>
            <a:ext cx="2926080" cy="566928"/>
          </a:xfrm>
          <a:prstGeom prst="rect">
            <a:avLst/>
          </a:prstGeom>
          <a:noFill/>
          <a:ln/>
        </p:spPr>
        <p:txBody>
          <a:bodyPr wrap="square" lIns="0" tIns="0" rIns="0" bIns="0" rtlCol="0" anchor="ctr"/>
          <a:lstStyle/>
          <a:p>
            <a:pPr algn="ctr" indent="0" marL="0">
              <a:buNone/>
            </a:pPr>
            <a:r>
              <a:rPr lang="en-US" sz="1800" b="1" dirty="0">
                <a:solidFill>
                  <a:schemeClr val="tx1"/>
                </a:solidFill>
              </a:rPr>
              <a:t>Phases of cell cycle</a:t>
            </a:r>
            <a:endParaRPr lang="en-US" sz="1800" dirty="0"/>
          </a:p>
        </p:txBody>
      </p:sp>
      <p:sp>
        <p:nvSpPr>
          <p:cNvPr id="13" name="topic chip 2"/>
          <p:cNvSpPr/>
          <p:nvPr/>
        </p:nvSpPr>
        <p:spPr>
          <a:xfrm>
            <a:off x="7223760" y="2052828"/>
            <a:ext cx="3040380" cy="566928"/>
          </a:xfrm>
          <a:prstGeom prst="roundRect">
            <a:avLst>
              <a:gd name="adj" fmla="val 50000"/>
            </a:avLst>
          </a:prstGeom>
          <a:solidFill>
            <a:srgbClr val="F4F8F8"/>
          </a:solidFill>
          <a:ln w="12700">
            <a:solidFill>
              <a:srgbClr val="D9E2E1"/>
            </a:solidFill>
            <a:prstDash val="solid"/>
          </a:ln>
        </p:spPr>
      </p:sp>
      <p:sp>
        <p:nvSpPr>
          <p:cNvPr id="14" name="topic 2"/>
          <p:cNvSpPr txBox="1"/>
          <p:nvPr/>
        </p:nvSpPr>
        <p:spPr>
          <a:xfrm>
            <a:off x="7223760" y="2052828"/>
            <a:ext cx="3040380" cy="566928"/>
          </a:xfrm>
          <a:prstGeom prst="rect">
            <a:avLst/>
          </a:prstGeom>
          <a:noFill/>
          <a:ln/>
        </p:spPr>
        <p:txBody>
          <a:bodyPr wrap="square" lIns="0" tIns="0" rIns="0" bIns="0" rtlCol="0" anchor="ctr"/>
          <a:lstStyle/>
          <a:p>
            <a:pPr algn="ctr" indent="0" marL="0">
              <a:buNone/>
            </a:pPr>
            <a:r>
              <a:rPr lang="en-US" sz="1800" b="1" dirty="0">
                <a:solidFill>
                  <a:schemeClr val="tx1"/>
                </a:solidFill>
              </a:rPr>
              <a:t>Interphase: G1, S, G2</a:t>
            </a:r>
            <a:endParaRPr lang="en-US" sz="1800" dirty="0"/>
          </a:p>
        </p:txBody>
      </p:sp>
      <p:sp>
        <p:nvSpPr>
          <p:cNvPr id="15" name="topic chip 3"/>
          <p:cNvSpPr/>
          <p:nvPr/>
        </p:nvSpPr>
        <p:spPr>
          <a:xfrm>
            <a:off x="4114800" y="2802636"/>
            <a:ext cx="2468880" cy="566928"/>
          </a:xfrm>
          <a:prstGeom prst="roundRect">
            <a:avLst>
              <a:gd name="adj" fmla="val 50000"/>
            </a:avLst>
          </a:prstGeom>
          <a:solidFill>
            <a:srgbClr val="F4F8F8"/>
          </a:solidFill>
          <a:ln w="12700">
            <a:solidFill>
              <a:srgbClr val="D9E2E1"/>
            </a:solidFill>
            <a:prstDash val="solid"/>
          </a:ln>
        </p:spPr>
      </p:sp>
      <p:sp>
        <p:nvSpPr>
          <p:cNvPr id="16" name="topic 3"/>
          <p:cNvSpPr txBox="1"/>
          <p:nvPr/>
        </p:nvSpPr>
        <p:spPr>
          <a:xfrm>
            <a:off x="4114800" y="2802636"/>
            <a:ext cx="2468880" cy="566928"/>
          </a:xfrm>
          <a:prstGeom prst="rect">
            <a:avLst/>
          </a:prstGeom>
          <a:noFill/>
          <a:ln/>
        </p:spPr>
        <p:txBody>
          <a:bodyPr wrap="square" lIns="0" tIns="0" rIns="0" bIns="0" rtlCol="0" anchor="ctr"/>
          <a:lstStyle/>
          <a:p>
            <a:pPr algn="ctr" indent="0" marL="0">
              <a:buNone/>
            </a:pPr>
            <a:r>
              <a:rPr lang="en-US" sz="1800" b="1" dirty="0">
                <a:solidFill>
                  <a:schemeClr val="tx1"/>
                </a:solidFill>
              </a:rPr>
              <a:t>Mitosis — stages</a:t>
            </a:r>
            <a:endParaRPr lang="en-US" sz="1800" dirty="0"/>
          </a:p>
        </p:txBody>
      </p:sp>
      <p:sp>
        <p:nvSpPr>
          <p:cNvPr id="17" name="topic chip 4"/>
          <p:cNvSpPr/>
          <p:nvPr/>
        </p:nvSpPr>
        <p:spPr>
          <a:xfrm>
            <a:off x="6766560" y="2802636"/>
            <a:ext cx="2926080" cy="566928"/>
          </a:xfrm>
          <a:prstGeom prst="roundRect">
            <a:avLst>
              <a:gd name="adj" fmla="val 50000"/>
            </a:avLst>
          </a:prstGeom>
          <a:solidFill>
            <a:srgbClr val="F4F8F8"/>
          </a:solidFill>
          <a:ln w="12700">
            <a:solidFill>
              <a:srgbClr val="D9E2E1"/>
            </a:solidFill>
            <a:prstDash val="solid"/>
          </a:ln>
        </p:spPr>
      </p:sp>
      <p:sp>
        <p:nvSpPr>
          <p:cNvPr id="18" name="topic 4"/>
          <p:cNvSpPr txBox="1"/>
          <p:nvPr/>
        </p:nvSpPr>
        <p:spPr>
          <a:xfrm>
            <a:off x="6766560" y="2802636"/>
            <a:ext cx="2926080" cy="566928"/>
          </a:xfrm>
          <a:prstGeom prst="rect">
            <a:avLst/>
          </a:prstGeom>
          <a:noFill/>
          <a:ln/>
        </p:spPr>
        <p:txBody>
          <a:bodyPr wrap="square" lIns="0" tIns="0" rIns="0" bIns="0" rtlCol="0" anchor="ctr"/>
          <a:lstStyle/>
          <a:p>
            <a:pPr algn="ctr" indent="0" marL="0">
              <a:buNone/>
            </a:pPr>
            <a:r>
              <a:rPr lang="en-US" sz="1800" b="1" dirty="0">
                <a:solidFill>
                  <a:schemeClr val="tx1"/>
                </a:solidFill>
              </a:rPr>
              <a:t>Meiosis — Prophase I</a:t>
            </a:r>
            <a:endParaRPr lang="en-US" sz="1800" dirty="0"/>
          </a:p>
        </p:txBody>
      </p:sp>
      <p:sp>
        <p:nvSpPr>
          <p:cNvPr id="19" name="topic chip 5"/>
          <p:cNvSpPr/>
          <p:nvPr/>
        </p:nvSpPr>
        <p:spPr>
          <a:xfrm>
            <a:off x="4114800" y="3552444"/>
            <a:ext cx="2125980" cy="566928"/>
          </a:xfrm>
          <a:prstGeom prst="roundRect">
            <a:avLst>
              <a:gd name="adj" fmla="val 50000"/>
            </a:avLst>
          </a:prstGeom>
          <a:solidFill>
            <a:srgbClr val="F4F8F8"/>
          </a:solidFill>
          <a:ln w="12700">
            <a:solidFill>
              <a:srgbClr val="D9E2E1"/>
            </a:solidFill>
            <a:prstDash val="solid"/>
          </a:ln>
        </p:spPr>
      </p:sp>
      <p:sp>
        <p:nvSpPr>
          <p:cNvPr id="20" name="topic 5"/>
          <p:cNvSpPr txBox="1"/>
          <p:nvPr/>
        </p:nvSpPr>
        <p:spPr>
          <a:xfrm>
            <a:off x="4114800" y="3552444"/>
            <a:ext cx="2125980" cy="566928"/>
          </a:xfrm>
          <a:prstGeom prst="rect">
            <a:avLst/>
          </a:prstGeom>
          <a:noFill/>
          <a:ln/>
        </p:spPr>
        <p:txBody>
          <a:bodyPr wrap="square" lIns="0" tIns="0" rIns="0" bIns="0" rtlCol="0" anchor="ctr"/>
          <a:lstStyle/>
          <a:p>
            <a:pPr algn="ctr" indent="0" marL="0">
              <a:buNone/>
            </a:pPr>
            <a:r>
              <a:rPr lang="en-US" sz="1800" b="1" dirty="0">
                <a:solidFill>
                  <a:schemeClr val="tx1"/>
                </a:solidFill>
              </a:rPr>
              <a:t>Crossing over</a:t>
            </a:r>
            <a:endParaRPr lang="en-US" sz="1800" dirty="0"/>
          </a:p>
        </p:txBody>
      </p:sp>
      <p:sp>
        <p:nvSpPr>
          <p:cNvPr id="21" name="topic chip 6"/>
          <p:cNvSpPr/>
          <p:nvPr/>
        </p:nvSpPr>
        <p:spPr>
          <a:xfrm>
            <a:off x="6423660" y="3552444"/>
            <a:ext cx="2697480" cy="566928"/>
          </a:xfrm>
          <a:prstGeom prst="roundRect">
            <a:avLst>
              <a:gd name="adj" fmla="val 50000"/>
            </a:avLst>
          </a:prstGeom>
          <a:solidFill>
            <a:srgbClr val="F4F8F8"/>
          </a:solidFill>
          <a:ln w="12700">
            <a:solidFill>
              <a:srgbClr val="D9E2E1"/>
            </a:solidFill>
            <a:prstDash val="solid"/>
          </a:ln>
        </p:spPr>
      </p:sp>
      <p:sp>
        <p:nvSpPr>
          <p:cNvPr id="22" name="topic 6"/>
          <p:cNvSpPr txBox="1"/>
          <p:nvPr/>
        </p:nvSpPr>
        <p:spPr>
          <a:xfrm>
            <a:off x="6423660" y="3552444"/>
            <a:ext cx="2697480" cy="566928"/>
          </a:xfrm>
          <a:prstGeom prst="rect">
            <a:avLst/>
          </a:prstGeom>
          <a:noFill/>
          <a:ln/>
        </p:spPr>
        <p:txBody>
          <a:bodyPr wrap="square" lIns="0" tIns="0" rIns="0" bIns="0" rtlCol="0" anchor="ctr"/>
          <a:lstStyle/>
          <a:p>
            <a:pPr algn="ctr" indent="0" marL="0">
              <a:buNone/>
            </a:pPr>
            <a:r>
              <a:rPr lang="en-US" sz="1800" b="1" dirty="0">
                <a:solidFill>
                  <a:schemeClr val="tx1"/>
                </a:solidFill>
              </a:rPr>
              <a:t>Mitosis vs Meiosis</a:t>
            </a:r>
            <a:endParaRPr lang="en-US" sz="1800" dirty="0"/>
          </a:p>
        </p:txBody>
      </p:sp>
      <p:sp>
        <p:nvSpPr>
          <p:cNvPr id="23" name="tip box"/>
          <p:cNvSpPr/>
          <p:nvPr/>
        </p:nvSpPr>
        <p:spPr>
          <a:xfrm>
            <a:off x="4114800" y="4572000"/>
            <a:ext cx="7498080" cy="1554480"/>
          </a:xfrm>
          <a:prstGeom prst="roundRect">
            <a:avLst>
              <a:gd name="adj" fmla="val 7059"/>
            </a:avLst>
          </a:prstGeom>
          <a:solidFill>
            <a:srgbClr val="0C1830"/>
          </a:solidFill>
          <a:ln/>
        </p:spPr>
      </p:sp>
      <p:pic>
        <p:nvPicPr>
          <p:cNvPr id="24" name="tip icon" descr="preencoded.png">    </p:cNvPr>
          <p:cNvPicPr>
            <a:picLocks noChangeAspect="1"/>
          </p:cNvPicPr>
          <p:nvPr/>
        </p:nvPicPr>
        <p:blipFill>
          <a:blip r:embed="rId2"/>
          <a:stretch>
            <a:fillRect/>
          </a:stretch>
        </p:blipFill>
        <p:spPr>
          <a:xfrm>
            <a:off x="4389120" y="4846320"/>
            <a:ext cx="411480" cy="411480"/>
          </a:xfrm>
          <a:prstGeom prst="rect">
            <a:avLst/>
          </a:prstGeom>
        </p:spPr>
      </p:pic>
      <p:sp>
        <p:nvSpPr>
          <p:cNvPr id="25" name="tip text"/>
          <p:cNvSpPr txBox="1"/>
          <p:nvPr/>
        </p:nvSpPr>
        <p:spPr>
          <a:xfrm>
            <a:off x="4983480" y="4754880"/>
            <a:ext cx="6400800" cy="1234440"/>
          </a:xfrm>
          <a:prstGeom prst="rect">
            <a:avLst/>
          </a:prstGeom>
          <a:noFill/>
          <a:ln/>
        </p:spPr>
        <p:txBody>
          <a:bodyPr wrap="square" lIns="0" tIns="0" rIns="0" bIns="0" rtlCol="0" anchor="t"/>
          <a:lstStyle/>
          <a:p>
            <a:pPr indent="0" marL="0">
              <a:spcAft>
                <a:spcPts val="300"/>
              </a:spcAft>
              <a:buNone/>
            </a:pPr>
            <a:r>
              <a:rPr lang="en-US" sz="1500" b="1" dirty="0">
                <a:solidFill>
                  <a:srgbClr val="F2D27A"/>
                </a:solidFill>
              </a:rPr>
              <a:t>Scoring tip</a:t>
            </a:r>
            <a:endParaRPr lang="en-US" sz="1500" dirty="0"/>
          </a:p>
          <a:p>
            <a:pPr indent="0" marL="0">
              <a:spcAft>
                <a:spcPts val="300"/>
              </a:spcAft>
              <a:buNone/>
            </a:pPr>
            <a:r>
              <a:rPr lang="en-US" sz="1500" dirty="0">
                <a:solidFill>
                  <a:srgbClr val="FFFFFF"/>
                </a:solidFill>
              </a:rPr>
              <a:t>Prophase I order: Leptotene → Zygotene → Pachytene → Diplotene → Diakinesis. Crossing over happens in pachytene.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Master these four diagrams</a:t>
            </a:r>
            <a:endParaRPr lang="en-US" sz="3400" dirty="0"/>
          </a:p>
        </p:txBody>
      </p:sp>
      <p:sp>
        <p:nvSpPr>
          <p:cNvPr id="3" name="Plant cell card"/>
          <p:cNvSpPr/>
          <p:nvPr/>
        </p:nvSpPr>
        <p:spPr>
          <a:xfrm>
            <a:off x="548640" y="1371600"/>
            <a:ext cx="2633472" cy="2240280"/>
          </a:xfrm>
          <a:prstGeom prst="roundRect">
            <a:avLst>
              <a:gd name="adj" fmla="val 4898"/>
            </a:avLst>
          </a:prstGeom>
          <a:solidFill>
            <a:srgbClr val="E8F3F1"/>
          </a:solidFill>
          <a:ln/>
        </p:spPr>
      </p:sp>
      <p:sp>
        <p:nvSpPr>
          <p:cNvPr id="4" name="Plant cell circle"/>
          <p:cNvSpPr/>
          <p:nvPr/>
        </p:nvSpPr>
        <p:spPr>
          <a:xfrm>
            <a:off x="1453896" y="1645920"/>
            <a:ext cx="822960" cy="822960"/>
          </a:xfrm>
          <a:prstGeom prst="ellipse">
            <a:avLst/>
          </a:prstGeom>
          <a:solidFill>
            <a:srgbClr val="FFFFFF"/>
          </a:solidFill>
          <a:ln/>
        </p:spPr>
      </p:sp>
      <p:pic>
        <p:nvPicPr>
          <p:cNvPr id="5" name="Plant cell icon" descr="preencoded.png">    </p:cNvPr>
          <p:cNvPicPr>
            <a:picLocks noChangeAspect="1"/>
          </p:cNvPicPr>
          <p:nvPr/>
        </p:nvPicPr>
        <p:blipFill>
          <a:blip r:embed="rId1"/>
          <a:stretch>
            <a:fillRect/>
          </a:stretch>
        </p:blipFill>
        <p:spPr>
          <a:xfrm>
            <a:off x="1651406" y="1843430"/>
            <a:ext cx="427939" cy="427939"/>
          </a:xfrm>
          <a:prstGeom prst="rect">
            <a:avLst/>
          </a:prstGeom>
        </p:spPr>
      </p:pic>
      <p:sp>
        <p:nvSpPr>
          <p:cNvPr id="6" name="Plant cell name"/>
          <p:cNvSpPr txBox="1"/>
          <p:nvPr/>
        </p:nvSpPr>
        <p:spPr>
          <a:xfrm>
            <a:off x="685800" y="2560320"/>
            <a:ext cx="2359152" cy="548640"/>
          </a:xfrm>
          <a:prstGeom prst="rect">
            <a:avLst/>
          </a:prstGeom>
          <a:noFill/>
          <a:ln/>
        </p:spPr>
        <p:txBody>
          <a:bodyPr wrap="square" lIns="0" tIns="0" rIns="0" bIns="0" rtlCol="0" anchor="ctr"/>
          <a:lstStyle/>
          <a:p>
            <a:pPr algn="ctr" indent="0" marL="0">
              <a:buNone/>
            </a:pPr>
            <a:r>
              <a:rPr lang="en-US" sz="1600" b="1" dirty="0">
                <a:solidFill>
                  <a:schemeClr val="tx1"/>
                </a:solidFill>
              </a:rPr>
              <a:t>Plant cell</a:t>
            </a:r>
            <a:endParaRPr lang="en-US" sz="1600" dirty="0"/>
          </a:p>
        </p:txBody>
      </p:sp>
      <p:sp>
        <p:nvSpPr>
          <p:cNvPr id="7" name="Plant cell chapter"/>
          <p:cNvSpPr txBox="1"/>
          <p:nvPr/>
        </p:nvSpPr>
        <p:spPr>
          <a:xfrm>
            <a:off x="685800" y="3108960"/>
            <a:ext cx="2359152" cy="320040"/>
          </a:xfrm>
          <a:prstGeom prst="rect">
            <a:avLst/>
          </a:prstGeom>
          <a:noFill/>
          <a:ln/>
        </p:spPr>
        <p:txBody>
          <a:bodyPr wrap="square" lIns="0" tIns="0" rIns="0" bIns="0" rtlCol="0" anchor="ctr"/>
          <a:lstStyle/>
          <a:p>
            <a:pPr algn="ctr" indent="0" marL="0">
              <a:buNone/>
            </a:pPr>
            <a:r>
              <a:rPr lang="en-US" sz="1300" dirty="0">
                <a:solidFill>
                  <a:schemeClr val="accent1"/>
                </a:solidFill>
              </a:rPr>
              <a:t>Ch 8</a:t>
            </a:r>
            <a:endParaRPr lang="en-US" sz="1300" dirty="0"/>
          </a:p>
        </p:txBody>
      </p:sp>
      <p:sp>
        <p:nvSpPr>
          <p:cNvPr id="8" name="Mitochondrion card"/>
          <p:cNvSpPr/>
          <p:nvPr/>
        </p:nvSpPr>
        <p:spPr>
          <a:xfrm>
            <a:off x="3364992" y="1371600"/>
            <a:ext cx="2633472" cy="2240280"/>
          </a:xfrm>
          <a:prstGeom prst="roundRect">
            <a:avLst>
              <a:gd name="adj" fmla="val 4898"/>
            </a:avLst>
          </a:prstGeom>
          <a:solidFill>
            <a:srgbClr val="E8F3F1"/>
          </a:solidFill>
          <a:ln/>
        </p:spPr>
      </p:sp>
      <p:sp>
        <p:nvSpPr>
          <p:cNvPr id="9" name="Mitochondrion circle"/>
          <p:cNvSpPr/>
          <p:nvPr/>
        </p:nvSpPr>
        <p:spPr>
          <a:xfrm>
            <a:off x="4270248" y="1645920"/>
            <a:ext cx="822960" cy="822960"/>
          </a:xfrm>
          <a:prstGeom prst="ellipse">
            <a:avLst/>
          </a:prstGeom>
          <a:solidFill>
            <a:srgbClr val="FFFFFF"/>
          </a:solidFill>
          <a:ln/>
        </p:spPr>
      </p:sp>
      <p:pic>
        <p:nvPicPr>
          <p:cNvPr id="10" name="Mitochondrion icon" descr="preencoded.png">    </p:cNvPr>
          <p:cNvPicPr>
            <a:picLocks noChangeAspect="1"/>
          </p:cNvPicPr>
          <p:nvPr/>
        </p:nvPicPr>
        <p:blipFill>
          <a:blip r:embed="rId2"/>
          <a:stretch>
            <a:fillRect/>
          </a:stretch>
        </p:blipFill>
        <p:spPr>
          <a:xfrm>
            <a:off x="4467758" y="1843430"/>
            <a:ext cx="427939" cy="427939"/>
          </a:xfrm>
          <a:prstGeom prst="rect">
            <a:avLst/>
          </a:prstGeom>
        </p:spPr>
      </p:pic>
      <p:sp>
        <p:nvSpPr>
          <p:cNvPr id="11" name="Mitochondrion name"/>
          <p:cNvSpPr txBox="1"/>
          <p:nvPr/>
        </p:nvSpPr>
        <p:spPr>
          <a:xfrm>
            <a:off x="3502152" y="2560320"/>
            <a:ext cx="2359152" cy="548640"/>
          </a:xfrm>
          <a:prstGeom prst="rect">
            <a:avLst/>
          </a:prstGeom>
          <a:noFill/>
          <a:ln/>
        </p:spPr>
        <p:txBody>
          <a:bodyPr wrap="square" lIns="0" tIns="0" rIns="0" bIns="0" rtlCol="0" anchor="ctr"/>
          <a:lstStyle/>
          <a:p>
            <a:pPr algn="ctr" indent="0" marL="0">
              <a:buNone/>
            </a:pPr>
            <a:r>
              <a:rPr lang="en-US" sz="1600" b="1" dirty="0">
                <a:solidFill>
                  <a:schemeClr val="tx1"/>
                </a:solidFill>
              </a:rPr>
              <a:t>Mitochondrion</a:t>
            </a:r>
            <a:endParaRPr lang="en-US" sz="1600" dirty="0"/>
          </a:p>
        </p:txBody>
      </p:sp>
      <p:sp>
        <p:nvSpPr>
          <p:cNvPr id="12" name="Mitochondrion chapter"/>
          <p:cNvSpPr txBox="1"/>
          <p:nvPr/>
        </p:nvSpPr>
        <p:spPr>
          <a:xfrm>
            <a:off x="3502152" y="3108960"/>
            <a:ext cx="2359152" cy="320040"/>
          </a:xfrm>
          <a:prstGeom prst="rect">
            <a:avLst/>
          </a:prstGeom>
          <a:noFill/>
          <a:ln/>
        </p:spPr>
        <p:txBody>
          <a:bodyPr wrap="square" lIns="0" tIns="0" rIns="0" bIns="0" rtlCol="0" anchor="ctr"/>
          <a:lstStyle/>
          <a:p>
            <a:pPr algn="ctr" indent="0" marL="0">
              <a:buNone/>
            </a:pPr>
            <a:r>
              <a:rPr lang="en-US" sz="1300" dirty="0">
                <a:solidFill>
                  <a:schemeClr val="accent1"/>
                </a:solidFill>
              </a:rPr>
              <a:t>Ch 8</a:t>
            </a:r>
            <a:endParaRPr lang="en-US" sz="1300" dirty="0"/>
          </a:p>
        </p:txBody>
      </p:sp>
      <p:sp>
        <p:nvSpPr>
          <p:cNvPr id="13" name="Frog digestive system card"/>
          <p:cNvSpPr/>
          <p:nvPr/>
        </p:nvSpPr>
        <p:spPr>
          <a:xfrm>
            <a:off x="6181344" y="1371600"/>
            <a:ext cx="2633472" cy="2240280"/>
          </a:xfrm>
          <a:prstGeom prst="roundRect">
            <a:avLst>
              <a:gd name="adj" fmla="val 4898"/>
            </a:avLst>
          </a:prstGeom>
          <a:solidFill>
            <a:srgbClr val="E8F3F1"/>
          </a:solidFill>
          <a:ln/>
        </p:spPr>
      </p:sp>
      <p:sp>
        <p:nvSpPr>
          <p:cNvPr id="14" name="Frog digestive system circle"/>
          <p:cNvSpPr/>
          <p:nvPr/>
        </p:nvSpPr>
        <p:spPr>
          <a:xfrm>
            <a:off x="7086600" y="1645920"/>
            <a:ext cx="822960" cy="822960"/>
          </a:xfrm>
          <a:prstGeom prst="ellipse">
            <a:avLst/>
          </a:prstGeom>
          <a:solidFill>
            <a:srgbClr val="FFFFFF"/>
          </a:solidFill>
          <a:ln/>
        </p:spPr>
      </p:sp>
      <p:pic>
        <p:nvPicPr>
          <p:cNvPr id="15" name="Frog digestive system icon" descr="preencoded.png">    </p:cNvPr>
          <p:cNvPicPr>
            <a:picLocks noChangeAspect="1"/>
          </p:cNvPicPr>
          <p:nvPr/>
        </p:nvPicPr>
        <p:blipFill>
          <a:blip r:embed="rId3"/>
          <a:stretch>
            <a:fillRect/>
          </a:stretch>
        </p:blipFill>
        <p:spPr>
          <a:xfrm>
            <a:off x="7284110" y="1843430"/>
            <a:ext cx="427939" cy="427939"/>
          </a:xfrm>
          <a:prstGeom prst="rect">
            <a:avLst/>
          </a:prstGeom>
        </p:spPr>
      </p:pic>
      <p:sp>
        <p:nvSpPr>
          <p:cNvPr id="16" name="Frog digestive system name"/>
          <p:cNvSpPr txBox="1"/>
          <p:nvPr/>
        </p:nvSpPr>
        <p:spPr>
          <a:xfrm>
            <a:off x="6318504" y="2560320"/>
            <a:ext cx="2359152" cy="548640"/>
          </a:xfrm>
          <a:prstGeom prst="rect">
            <a:avLst/>
          </a:prstGeom>
          <a:noFill/>
          <a:ln/>
        </p:spPr>
        <p:txBody>
          <a:bodyPr wrap="square" lIns="0" tIns="0" rIns="0" bIns="0" rtlCol="0" anchor="ctr"/>
          <a:lstStyle/>
          <a:p>
            <a:pPr algn="ctr" indent="0" marL="0">
              <a:buNone/>
            </a:pPr>
            <a:r>
              <a:rPr lang="en-US" sz="1600" b="1" dirty="0">
                <a:solidFill>
                  <a:schemeClr val="tx1"/>
                </a:solidFill>
              </a:rPr>
              <a:t>Frog digestive system</a:t>
            </a:r>
            <a:endParaRPr lang="en-US" sz="1600" dirty="0"/>
          </a:p>
        </p:txBody>
      </p:sp>
      <p:sp>
        <p:nvSpPr>
          <p:cNvPr id="17" name="Frog digestive system chapter"/>
          <p:cNvSpPr txBox="1"/>
          <p:nvPr/>
        </p:nvSpPr>
        <p:spPr>
          <a:xfrm>
            <a:off x="6318504" y="3108960"/>
            <a:ext cx="2359152" cy="320040"/>
          </a:xfrm>
          <a:prstGeom prst="rect">
            <a:avLst/>
          </a:prstGeom>
          <a:noFill/>
          <a:ln/>
        </p:spPr>
        <p:txBody>
          <a:bodyPr wrap="square" lIns="0" tIns="0" rIns="0" bIns="0" rtlCol="0" anchor="ctr"/>
          <a:lstStyle/>
          <a:p>
            <a:pPr algn="ctr" indent="0" marL="0">
              <a:buNone/>
            </a:pPr>
            <a:r>
              <a:rPr lang="en-US" sz="1300" dirty="0">
                <a:solidFill>
                  <a:schemeClr val="accent1"/>
                </a:solidFill>
              </a:rPr>
              <a:t>Ch 7</a:t>
            </a:r>
            <a:endParaRPr lang="en-US" sz="1300" dirty="0"/>
          </a:p>
        </p:txBody>
      </p:sp>
      <p:sp>
        <p:nvSpPr>
          <p:cNvPr id="18" name="Cell cycle card"/>
          <p:cNvSpPr/>
          <p:nvPr/>
        </p:nvSpPr>
        <p:spPr>
          <a:xfrm>
            <a:off x="8997696" y="1371600"/>
            <a:ext cx="2633472" cy="2240280"/>
          </a:xfrm>
          <a:prstGeom prst="roundRect">
            <a:avLst>
              <a:gd name="adj" fmla="val 4898"/>
            </a:avLst>
          </a:prstGeom>
          <a:solidFill>
            <a:srgbClr val="E8F3F1"/>
          </a:solidFill>
          <a:ln/>
        </p:spPr>
      </p:sp>
      <p:sp>
        <p:nvSpPr>
          <p:cNvPr id="19" name="Cell cycle circle"/>
          <p:cNvSpPr/>
          <p:nvPr/>
        </p:nvSpPr>
        <p:spPr>
          <a:xfrm>
            <a:off x="9902952" y="1645920"/>
            <a:ext cx="822960" cy="822960"/>
          </a:xfrm>
          <a:prstGeom prst="ellipse">
            <a:avLst/>
          </a:prstGeom>
          <a:solidFill>
            <a:srgbClr val="FFFFFF"/>
          </a:solidFill>
          <a:ln/>
        </p:spPr>
      </p:sp>
      <p:pic>
        <p:nvPicPr>
          <p:cNvPr id="20" name="Cell cycle icon" descr="preencoded.png">    </p:cNvPr>
          <p:cNvPicPr>
            <a:picLocks noChangeAspect="1"/>
          </p:cNvPicPr>
          <p:nvPr/>
        </p:nvPicPr>
        <p:blipFill>
          <a:blip r:embed="rId4"/>
          <a:stretch>
            <a:fillRect/>
          </a:stretch>
        </p:blipFill>
        <p:spPr>
          <a:xfrm>
            <a:off x="10100462" y="1843430"/>
            <a:ext cx="427939" cy="427939"/>
          </a:xfrm>
          <a:prstGeom prst="rect">
            <a:avLst/>
          </a:prstGeom>
        </p:spPr>
      </p:pic>
      <p:sp>
        <p:nvSpPr>
          <p:cNvPr id="21" name="Cell cycle name"/>
          <p:cNvSpPr txBox="1"/>
          <p:nvPr/>
        </p:nvSpPr>
        <p:spPr>
          <a:xfrm>
            <a:off x="9134856" y="2560320"/>
            <a:ext cx="2359152" cy="548640"/>
          </a:xfrm>
          <a:prstGeom prst="rect">
            <a:avLst/>
          </a:prstGeom>
          <a:noFill/>
          <a:ln/>
        </p:spPr>
        <p:txBody>
          <a:bodyPr wrap="square" lIns="0" tIns="0" rIns="0" bIns="0" rtlCol="0" anchor="ctr"/>
          <a:lstStyle/>
          <a:p>
            <a:pPr algn="ctr" indent="0" marL="0">
              <a:buNone/>
            </a:pPr>
            <a:r>
              <a:rPr lang="en-US" sz="1600" b="1" dirty="0">
                <a:solidFill>
                  <a:schemeClr val="tx1"/>
                </a:solidFill>
              </a:rPr>
              <a:t>Cell cycle</a:t>
            </a:r>
            <a:endParaRPr lang="en-US" sz="1600" dirty="0"/>
          </a:p>
        </p:txBody>
      </p:sp>
      <p:sp>
        <p:nvSpPr>
          <p:cNvPr id="22" name="Cell cycle chapter"/>
          <p:cNvSpPr txBox="1"/>
          <p:nvPr/>
        </p:nvSpPr>
        <p:spPr>
          <a:xfrm>
            <a:off x="9134856" y="3108960"/>
            <a:ext cx="2359152" cy="320040"/>
          </a:xfrm>
          <a:prstGeom prst="rect">
            <a:avLst/>
          </a:prstGeom>
          <a:noFill/>
          <a:ln/>
        </p:spPr>
        <p:txBody>
          <a:bodyPr wrap="square" lIns="0" tIns="0" rIns="0" bIns="0" rtlCol="0" anchor="ctr"/>
          <a:lstStyle/>
          <a:p>
            <a:pPr algn="ctr" indent="0" marL="0">
              <a:buNone/>
            </a:pPr>
            <a:r>
              <a:rPr lang="en-US" sz="1300" dirty="0">
                <a:solidFill>
                  <a:schemeClr val="accent1"/>
                </a:solidFill>
              </a:rPr>
              <a:t>Ch 10</a:t>
            </a:r>
            <a:endParaRPr lang="en-US" sz="1300" dirty="0"/>
          </a:p>
        </p:txBody>
      </p:sp>
      <p:sp>
        <p:nvSpPr>
          <p:cNvPr id="23" name="rule badge 1"/>
          <p:cNvSpPr/>
          <p:nvPr/>
        </p:nvSpPr>
        <p:spPr>
          <a:xfrm>
            <a:off x="548640" y="3977640"/>
            <a:ext cx="548640" cy="548640"/>
          </a:xfrm>
          <a:prstGeom prst="ellipse">
            <a:avLst/>
          </a:prstGeom>
          <a:solidFill>
            <a:srgbClr val="0B8F80"/>
          </a:solidFill>
          <a:ln/>
        </p:spPr>
      </p:sp>
      <p:sp>
        <p:nvSpPr>
          <p:cNvPr id="24" name="rule number 1"/>
          <p:cNvSpPr txBox="1"/>
          <p:nvPr/>
        </p:nvSpPr>
        <p:spPr>
          <a:xfrm>
            <a:off x="54864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25" name="rule 1"/>
          <p:cNvSpPr txBox="1"/>
          <p:nvPr/>
        </p:nvSpPr>
        <p:spPr>
          <a:xfrm>
            <a:off x="1280160" y="3931920"/>
            <a:ext cx="4663440" cy="914400"/>
          </a:xfrm>
          <a:prstGeom prst="rect">
            <a:avLst/>
          </a:prstGeom>
          <a:noFill/>
          <a:ln/>
        </p:spPr>
        <p:txBody>
          <a:bodyPr wrap="square" lIns="0" tIns="0" rIns="0" bIns="0" rtlCol="0" anchor="t"/>
          <a:lstStyle/>
          <a:p>
            <a:pPr indent="0" marL="0">
              <a:buNone/>
            </a:pPr>
            <a:r>
              <a:rPr lang="en-US" sz="1500" b="1" dirty="0">
                <a:solidFill>
                  <a:schemeClr val="tx1"/>
                </a:solidFill>
              </a:rPr>
              <a:t>Pencil, large and neat</a:t>
            </a:r>
            <a:endParaRPr lang="en-US" sz="1500" dirty="0"/>
          </a:p>
          <a:p>
            <a:pPr indent="0" marL="0">
              <a:buNone/>
            </a:pPr>
            <a:r>
              <a:rPr lang="en-US" sz="1500" dirty="0">
                <a:solidFill>
                  <a:schemeClr val="tx2"/>
                </a:solidFill>
              </a:rPr>
              <a:t>Use at least half a page; a cramped diagram loses labels.</a:t>
            </a:r>
            <a:endParaRPr lang="en-US" sz="1500" dirty="0"/>
          </a:p>
        </p:txBody>
      </p:sp>
      <p:sp>
        <p:nvSpPr>
          <p:cNvPr id="26" name="rule badge 2"/>
          <p:cNvSpPr/>
          <p:nvPr/>
        </p:nvSpPr>
        <p:spPr>
          <a:xfrm>
            <a:off x="6172200" y="3977640"/>
            <a:ext cx="548640" cy="548640"/>
          </a:xfrm>
          <a:prstGeom prst="ellipse">
            <a:avLst/>
          </a:prstGeom>
          <a:solidFill>
            <a:srgbClr val="0B8F80"/>
          </a:solidFill>
          <a:ln/>
        </p:spPr>
      </p:sp>
      <p:sp>
        <p:nvSpPr>
          <p:cNvPr id="27" name="rule number 2"/>
          <p:cNvSpPr txBox="1"/>
          <p:nvPr/>
        </p:nvSpPr>
        <p:spPr>
          <a:xfrm>
            <a:off x="6172200" y="3977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28" name="rule 2"/>
          <p:cNvSpPr txBox="1"/>
          <p:nvPr/>
        </p:nvSpPr>
        <p:spPr>
          <a:xfrm>
            <a:off x="6903720" y="3931920"/>
            <a:ext cx="4663440" cy="914400"/>
          </a:xfrm>
          <a:prstGeom prst="rect">
            <a:avLst/>
          </a:prstGeom>
          <a:noFill/>
          <a:ln/>
        </p:spPr>
        <p:txBody>
          <a:bodyPr wrap="square" lIns="0" tIns="0" rIns="0" bIns="0" rtlCol="0" anchor="t"/>
          <a:lstStyle/>
          <a:p>
            <a:pPr indent="0" marL="0">
              <a:buNone/>
            </a:pPr>
            <a:r>
              <a:rPr lang="en-US" sz="1500" b="1" dirty="0">
                <a:solidFill>
                  <a:schemeClr val="tx1"/>
                </a:solidFill>
              </a:rPr>
              <a:t>Straight, parallel label lines</a:t>
            </a:r>
            <a:endParaRPr lang="en-US" sz="1500" dirty="0"/>
          </a:p>
          <a:p>
            <a:pPr indent="0" marL="0">
              <a:buNone/>
            </a:pPr>
            <a:r>
              <a:rPr lang="en-US" sz="1500" dirty="0">
                <a:solidFill>
                  <a:schemeClr val="tx2"/>
                </a:solidFill>
              </a:rPr>
              <a:t>Keep labels on one side, no crossing lines.</a:t>
            </a:r>
            <a:endParaRPr lang="en-US" sz="1500" dirty="0"/>
          </a:p>
        </p:txBody>
      </p:sp>
      <p:sp>
        <p:nvSpPr>
          <p:cNvPr id="29" name="rule badge 3"/>
          <p:cNvSpPr/>
          <p:nvPr/>
        </p:nvSpPr>
        <p:spPr>
          <a:xfrm>
            <a:off x="548640" y="5120640"/>
            <a:ext cx="548640" cy="548640"/>
          </a:xfrm>
          <a:prstGeom prst="ellipse">
            <a:avLst/>
          </a:prstGeom>
          <a:solidFill>
            <a:srgbClr val="0B8F80"/>
          </a:solidFill>
          <a:ln/>
        </p:spPr>
      </p:sp>
      <p:sp>
        <p:nvSpPr>
          <p:cNvPr id="30" name="rule number 3"/>
          <p:cNvSpPr txBox="1"/>
          <p:nvPr/>
        </p:nvSpPr>
        <p:spPr>
          <a:xfrm>
            <a:off x="54864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31" name="rule 3"/>
          <p:cNvSpPr txBox="1"/>
          <p:nvPr/>
        </p:nvSpPr>
        <p:spPr>
          <a:xfrm>
            <a:off x="1280160" y="5074920"/>
            <a:ext cx="4663440" cy="914400"/>
          </a:xfrm>
          <a:prstGeom prst="rect">
            <a:avLst/>
          </a:prstGeom>
          <a:noFill/>
          <a:ln/>
        </p:spPr>
        <p:txBody>
          <a:bodyPr wrap="square" lIns="0" tIns="0" rIns="0" bIns="0" rtlCol="0" anchor="t"/>
          <a:lstStyle/>
          <a:p>
            <a:pPr indent="0" marL="0">
              <a:buNone/>
            </a:pPr>
            <a:r>
              <a:rPr lang="en-US" sz="1500" b="1" dirty="0">
                <a:solidFill>
                  <a:schemeClr val="tx1"/>
                </a:solidFill>
              </a:rPr>
              <a:t>Title below the diagram</a:t>
            </a:r>
            <a:endParaRPr lang="en-US" sz="1500" dirty="0"/>
          </a:p>
          <a:p>
            <a:pPr indent="0" marL="0">
              <a:buNone/>
            </a:pPr>
            <a:r>
              <a:rPr lang="en-US" sz="1500" dirty="0">
                <a:solidFill>
                  <a:schemeClr val="tx2"/>
                </a:solidFill>
              </a:rPr>
              <a:t>Name it exactly as asked: “Ultrastructure of mitochondrion”.</a:t>
            </a:r>
            <a:endParaRPr lang="en-US" sz="1500" dirty="0"/>
          </a:p>
        </p:txBody>
      </p:sp>
      <p:sp>
        <p:nvSpPr>
          <p:cNvPr id="32" name="rule badge 4"/>
          <p:cNvSpPr/>
          <p:nvPr/>
        </p:nvSpPr>
        <p:spPr>
          <a:xfrm>
            <a:off x="6172200" y="5120640"/>
            <a:ext cx="548640" cy="548640"/>
          </a:xfrm>
          <a:prstGeom prst="ellipse">
            <a:avLst/>
          </a:prstGeom>
          <a:solidFill>
            <a:srgbClr val="0B8F80"/>
          </a:solidFill>
          <a:ln/>
        </p:spPr>
      </p:sp>
      <p:sp>
        <p:nvSpPr>
          <p:cNvPr id="33" name="rule number 4"/>
          <p:cNvSpPr txBox="1"/>
          <p:nvPr/>
        </p:nvSpPr>
        <p:spPr>
          <a:xfrm>
            <a:off x="6172200" y="51206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34" name="rule 4"/>
          <p:cNvSpPr txBox="1"/>
          <p:nvPr/>
        </p:nvSpPr>
        <p:spPr>
          <a:xfrm>
            <a:off x="6903720" y="5074920"/>
            <a:ext cx="4663440" cy="914400"/>
          </a:xfrm>
          <a:prstGeom prst="rect">
            <a:avLst/>
          </a:prstGeom>
          <a:noFill/>
          <a:ln/>
        </p:spPr>
        <p:txBody>
          <a:bodyPr wrap="square" lIns="0" tIns="0" rIns="0" bIns="0" rtlCol="0" anchor="t"/>
          <a:lstStyle/>
          <a:p>
            <a:pPr indent="0" marL="0">
              <a:buNone/>
            </a:pPr>
            <a:r>
              <a:rPr lang="en-US" sz="1500" b="1" dirty="0">
                <a:solidFill>
                  <a:schemeClr val="tx1"/>
                </a:solidFill>
              </a:rPr>
              <a:t>Draw it in 3 minutes</a:t>
            </a:r>
            <a:endParaRPr lang="en-US" sz="1500" dirty="0"/>
          </a:p>
          <a:p>
            <a:pPr indent="0" marL="0">
              <a:buNone/>
            </a:pPr>
            <a:r>
              <a:rPr lang="en-US" sz="1500" dirty="0">
                <a:solidFill>
                  <a:schemeClr val="tx2"/>
                </a:solidFill>
              </a:rPr>
              <a:t>Time yourself at home until each one is quick.</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Part A: one-mark questions</a:t>
            </a:r>
            <a:endParaRPr lang="en-US" sz="3400" dirty="0"/>
          </a:p>
        </p:txBody>
      </p:sp>
      <p:sp>
        <p:nvSpPr>
          <p:cNvPr id="3" name="part panel"/>
          <p:cNvSpPr/>
          <p:nvPr/>
        </p:nvSpPr>
        <p:spPr>
          <a:xfrm>
            <a:off x="548640" y="1325880"/>
            <a:ext cx="3017520" cy="4800600"/>
          </a:xfrm>
          <a:prstGeom prst="roundRect">
            <a:avLst>
              <a:gd name="adj" fmla="val 3636"/>
            </a:avLst>
          </a:prstGeom>
          <a:solidFill>
            <a:srgbClr val="E8F3F1"/>
          </a:solidFill>
          <a:ln/>
        </p:spPr>
      </p:sp>
      <p:sp>
        <p:nvSpPr>
          <p:cNvPr id="4" name="part label"/>
          <p:cNvSpPr txBox="1"/>
          <p:nvPr/>
        </p:nvSpPr>
        <p:spPr>
          <a:xfrm>
            <a:off x="868680" y="1645920"/>
            <a:ext cx="2468880" cy="365760"/>
          </a:xfrm>
          <a:prstGeom prst="rect">
            <a:avLst/>
          </a:prstGeom>
          <a:noFill/>
          <a:ln/>
        </p:spPr>
        <p:txBody>
          <a:bodyPr wrap="square" lIns="0" tIns="0" rIns="0" bIns="0" rtlCol="0" anchor="ctr"/>
          <a:lstStyle/>
          <a:p>
            <a:pPr indent="0" marL="0">
              <a:buNone/>
            </a:pPr>
            <a:r>
              <a:rPr lang="en-US" sz="1500" b="1" dirty="0">
                <a:solidFill>
                  <a:schemeClr val="accent1"/>
                </a:solidFill>
              </a:rPr>
              <a:t>PART A</a:t>
            </a:r>
            <a:endParaRPr lang="en-US" sz="1500" dirty="0"/>
          </a:p>
        </p:txBody>
      </p:sp>
      <p:sp>
        <p:nvSpPr>
          <p:cNvPr id="5" name="part marks"/>
          <p:cNvSpPr txBox="1"/>
          <p:nvPr/>
        </p:nvSpPr>
        <p:spPr>
          <a:xfrm>
            <a:off x="868680" y="2057400"/>
            <a:ext cx="2468880" cy="1188720"/>
          </a:xfrm>
          <a:prstGeom prst="rect">
            <a:avLst/>
          </a:prstGeom>
          <a:noFill/>
          <a:ln/>
        </p:spPr>
        <p:txBody>
          <a:bodyPr wrap="square" lIns="0" tIns="0" rIns="0" bIns="0" rtlCol="0" anchor="ctr"/>
          <a:lstStyle/>
          <a:p>
            <a:pPr indent="0" marL="0">
              <a:buNone/>
            </a:pPr>
            <a:r>
              <a:rPr lang="en-US" sz="6600" b="1" dirty="0">
                <a:solidFill>
                  <a:schemeClr val="tx1"/>
                </a:solidFill>
                <a:latin typeface="Cambria" pitchFamily="34" charset="0"/>
                <a:ea typeface="Cambria" pitchFamily="34" charset="-122"/>
                <a:cs typeface="Cambria" pitchFamily="34" charset="-120"/>
              </a:rPr>
              <a:t>20</a:t>
            </a:r>
            <a:endParaRPr lang="en-US" sz="6600" dirty="0"/>
          </a:p>
        </p:txBody>
      </p:sp>
      <p:sp>
        <p:nvSpPr>
          <p:cNvPr id="6" name="part detail"/>
          <p:cNvSpPr txBox="1"/>
          <p:nvPr/>
        </p:nvSpPr>
        <p:spPr>
          <a:xfrm>
            <a:off x="868680" y="3291840"/>
            <a:ext cx="2468880" cy="2377440"/>
          </a:xfrm>
          <a:prstGeom prst="rect">
            <a:avLst/>
          </a:prstGeom>
          <a:noFill/>
          <a:ln/>
        </p:spPr>
        <p:txBody>
          <a:bodyPr wrap="square" lIns="0" tIns="0" rIns="0" bIns="0" rtlCol="0" anchor="t"/>
          <a:lstStyle/>
          <a:p>
            <a:pPr indent="0" marL="0">
              <a:buNone/>
            </a:pPr>
            <a:r>
              <a:rPr lang="en-US" sz="1500" dirty="0">
                <a:solidFill>
                  <a:schemeClr val="tx2"/>
                </a:solidFill>
              </a:rPr>
              <a:t>marks · 15 MCQs and 5 fill in the blanks. Quick, sure marks — finish this part first.</a:t>
            </a:r>
            <a:endParaRPr lang="en-US" sz="1500" dirty="0"/>
          </a:p>
        </p:txBody>
      </p:sp>
      <p:sp>
        <p:nvSpPr>
          <p:cNvPr id="7" name="Read all four options circle"/>
          <p:cNvSpPr/>
          <p:nvPr/>
        </p:nvSpPr>
        <p:spPr>
          <a:xfrm>
            <a:off x="3931920" y="1417320"/>
            <a:ext cx="685800" cy="685800"/>
          </a:xfrm>
          <a:prstGeom prst="ellipse">
            <a:avLst/>
          </a:prstGeom>
          <a:solidFill>
            <a:srgbClr val="0B8F80"/>
          </a:solidFill>
          <a:ln/>
        </p:spPr>
      </p:sp>
      <p:pic>
        <p:nvPicPr>
          <p:cNvPr id="8" name="Read all four options icon" descr="preencoded.png">    </p:cNvPr>
          <p:cNvPicPr>
            <a:picLocks noChangeAspect="1"/>
          </p:cNvPicPr>
          <p:nvPr/>
        </p:nvPicPr>
        <p:blipFill>
          <a:blip r:embed="rId1"/>
          <a:stretch>
            <a:fillRect/>
          </a:stretch>
        </p:blipFill>
        <p:spPr>
          <a:xfrm>
            <a:off x="4096512" y="1581912"/>
            <a:ext cx="356616" cy="356616"/>
          </a:xfrm>
          <a:prstGeom prst="rect">
            <a:avLst/>
          </a:prstGeom>
        </p:spPr>
      </p:pic>
      <p:sp>
        <p:nvSpPr>
          <p:cNvPr id="9" name="Read all four options"/>
          <p:cNvSpPr txBox="1"/>
          <p:nvPr/>
        </p:nvSpPr>
        <p:spPr>
          <a:xfrm>
            <a:off x="4846320" y="1371600"/>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Read all four options</a:t>
            </a:r>
            <a:endParaRPr lang="en-US" sz="1800" dirty="0"/>
          </a:p>
          <a:p>
            <a:pPr indent="0" marL="0">
              <a:spcAft>
                <a:spcPts val="300"/>
              </a:spcAft>
              <a:buNone/>
            </a:pPr>
            <a:r>
              <a:rPr lang="en-US" sz="1500" dirty="0">
                <a:solidFill>
                  <a:schemeClr val="tx2"/>
                </a:solidFill>
              </a:rPr>
              <a:t>Then eliminate the clearly wrong ones before choosing.</a:t>
            </a:r>
            <a:endParaRPr lang="en-US" sz="1800" dirty="0"/>
          </a:p>
        </p:txBody>
      </p:sp>
      <p:sp>
        <p:nvSpPr>
          <p:cNvPr id="10" name="Watch for “not”, “incorrect”, “except” circle"/>
          <p:cNvSpPr/>
          <p:nvPr/>
        </p:nvSpPr>
        <p:spPr>
          <a:xfrm>
            <a:off x="3931920" y="2624328"/>
            <a:ext cx="685800" cy="685800"/>
          </a:xfrm>
          <a:prstGeom prst="ellipse">
            <a:avLst/>
          </a:prstGeom>
          <a:solidFill>
            <a:srgbClr val="0B8F80"/>
          </a:solidFill>
          <a:ln/>
        </p:spPr>
      </p:sp>
      <p:pic>
        <p:nvPicPr>
          <p:cNvPr id="11" name="Watch for “not”, “incorrect”, “except” icon" descr="preencoded.png">    </p:cNvPr>
          <p:cNvPicPr>
            <a:picLocks noChangeAspect="1"/>
          </p:cNvPicPr>
          <p:nvPr/>
        </p:nvPicPr>
        <p:blipFill>
          <a:blip r:embed="rId2"/>
          <a:stretch>
            <a:fillRect/>
          </a:stretch>
        </p:blipFill>
        <p:spPr>
          <a:xfrm>
            <a:off x="4096512" y="2788920"/>
            <a:ext cx="356616" cy="356616"/>
          </a:xfrm>
          <a:prstGeom prst="rect">
            <a:avLst/>
          </a:prstGeom>
        </p:spPr>
      </p:pic>
      <p:sp>
        <p:nvSpPr>
          <p:cNvPr id="12" name="Watch for “not”, “incorrect”, “except”"/>
          <p:cNvSpPr txBox="1"/>
          <p:nvPr/>
        </p:nvSpPr>
        <p:spPr>
          <a:xfrm>
            <a:off x="4846320" y="2578608"/>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Watch for “not”, “incorrect”, “except”</a:t>
            </a:r>
            <a:endParaRPr lang="en-US" sz="1800" dirty="0"/>
          </a:p>
          <a:p>
            <a:pPr indent="0" marL="0">
              <a:spcAft>
                <a:spcPts val="300"/>
              </a:spcAft>
              <a:buNone/>
            </a:pPr>
            <a:r>
              <a:rPr lang="en-US" sz="1500" dirty="0">
                <a:solidFill>
                  <a:schemeClr val="tx2"/>
                </a:solidFill>
              </a:rPr>
              <a:t>These words flip the question — underline them as you read.</a:t>
            </a:r>
            <a:endParaRPr lang="en-US" sz="1800" dirty="0"/>
          </a:p>
        </p:txBody>
      </p:sp>
      <p:sp>
        <p:nvSpPr>
          <p:cNvPr id="13" name="Only your first answer counts circle"/>
          <p:cNvSpPr/>
          <p:nvPr/>
        </p:nvSpPr>
        <p:spPr>
          <a:xfrm>
            <a:off x="3931920" y="3831336"/>
            <a:ext cx="685800" cy="685800"/>
          </a:xfrm>
          <a:prstGeom prst="ellipse">
            <a:avLst/>
          </a:prstGeom>
          <a:solidFill>
            <a:srgbClr val="0B8F80"/>
          </a:solidFill>
          <a:ln/>
        </p:spPr>
      </p:sp>
      <p:pic>
        <p:nvPicPr>
          <p:cNvPr id="14" name="Only your first answer counts icon" descr="preencoded.png">    </p:cNvPr>
          <p:cNvPicPr>
            <a:picLocks noChangeAspect="1"/>
          </p:cNvPicPr>
          <p:nvPr/>
        </p:nvPicPr>
        <p:blipFill>
          <a:blip r:embed="rId3"/>
          <a:stretch>
            <a:fillRect/>
          </a:stretch>
        </p:blipFill>
        <p:spPr>
          <a:xfrm>
            <a:off x="4096512" y="3995928"/>
            <a:ext cx="356616" cy="356616"/>
          </a:xfrm>
          <a:prstGeom prst="rect">
            <a:avLst/>
          </a:prstGeom>
        </p:spPr>
      </p:pic>
      <p:sp>
        <p:nvSpPr>
          <p:cNvPr id="15" name="Only your first answer counts"/>
          <p:cNvSpPr txBox="1"/>
          <p:nvPr/>
        </p:nvSpPr>
        <p:spPr>
          <a:xfrm>
            <a:off x="4846320" y="3785616"/>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Only your first answer counts</a:t>
            </a:r>
            <a:endParaRPr lang="en-US" sz="1800" dirty="0"/>
          </a:p>
          <a:p>
            <a:pPr indent="0" marL="0">
              <a:spcAft>
                <a:spcPts val="300"/>
              </a:spcAft>
              <a:buNone/>
            </a:pPr>
            <a:r>
              <a:rPr lang="en-US" sz="1500" dirty="0">
                <a:solidFill>
                  <a:schemeClr val="tx2"/>
                </a:solidFill>
              </a:rPr>
              <a:t>Don’t overwrite or write two answers; decide, then write once.</a:t>
            </a:r>
            <a:endParaRPr lang="en-US" sz="1800" dirty="0"/>
          </a:p>
        </p:txBody>
      </p:sp>
      <p:sp>
        <p:nvSpPr>
          <p:cNvPr id="16" name="Fill in the blanks: use each word once circle"/>
          <p:cNvSpPr/>
          <p:nvPr/>
        </p:nvSpPr>
        <p:spPr>
          <a:xfrm>
            <a:off x="3931920" y="5038344"/>
            <a:ext cx="685800" cy="685800"/>
          </a:xfrm>
          <a:prstGeom prst="ellipse">
            <a:avLst/>
          </a:prstGeom>
          <a:solidFill>
            <a:srgbClr val="0B8F80"/>
          </a:solidFill>
          <a:ln/>
        </p:spPr>
      </p:sp>
      <p:pic>
        <p:nvPicPr>
          <p:cNvPr id="17" name="Fill in the blanks: use each word once icon" descr="preencoded.png">    </p:cNvPr>
          <p:cNvPicPr>
            <a:picLocks noChangeAspect="1"/>
          </p:cNvPicPr>
          <p:nvPr/>
        </p:nvPicPr>
        <p:blipFill>
          <a:blip r:embed="rId4"/>
          <a:stretch>
            <a:fillRect/>
          </a:stretch>
        </p:blipFill>
        <p:spPr>
          <a:xfrm>
            <a:off x="4096512" y="5202936"/>
            <a:ext cx="356616" cy="356616"/>
          </a:xfrm>
          <a:prstGeom prst="rect">
            <a:avLst/>
          </a:prstGeom>
        </p:spPr>
      </p:pic>
      <p:sp>
        <p:nvSpPr>
          <p:cNvPr id="18" name="Fill in the blanks: use each word once"/>
          <p:cNvSpPr txBox="1"/>
          <p:nvPr/>
        </p:nvSpPr>
        <p:spPr>
          <a:xfrm>
            <a:off x="4846320" y="4992624"/>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Fill in the blanks: use each word once</a:t>
            </a:r>
            <a:endParaRPr lang="en-US" sz="1800" dirty="0"/>
          </a:p>
          <a:p>
            <a:pPr indent="0" marL="0">
              <a:spcAft>
                <a:spcPts val="300"/>
              </a:spcAft>
              <a:buNone/>
            </a:pPr>
            <a:r>
              <a:rPr lang="en-US" sz="1500" dirty="0">
                <a:solidFill>
                  <a:schemeClr val="tx2"/>
                </a:solidFill>
              </a:rPr>
              <a:t>Cross out each bracket word as you use it.</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Parts B &amp; C: short answers</a:t>
            </a:r>
            <a:endParaRPr lang="en-US" sz="3400" dirty="0"/>
          </a:p>
        </p:txBody>
      </p:sp>
      <p:sp>
        <p:nvSpPr>
          <p:cNvPr id="3" name="part panel"/>
          <p:cNvSpPr/>
          <p:nvPr/>
        </p:nvSpPr>
        <p:spPr>
          <a:xfrm>
            <a:off x="548640" y="1325880"/>
            <a:ext cx="3017520" cy="4800600"/>
          </a:xfrm>
          <a:prstGeom prst="roundRect">
            <a:avLst>
              <a:gd name="adj" fmla="val 3636"/>
            </a:avLst>
          </a:prstGeom>
          <a:solidFill>
            <a:srgbClr val="E8F3F1"/>
          </a:solidFill>
          <a:ln/>
        </p:spPr>
      </p:sp>
      <p:sp>
        <p:nvSpPr>
          <p:cNvPr id="4" name="part label"/>
          <p:cNvSpPr txBox="1"/>
          <p:nvPr/>
        </p:nvSpPr>
        <p:spPr>
          <a:xfrm>
            <a:off x="868680" y="1645920"/>
            <a:ext cx="2468880" cy="365760"/>
          </a:xfrm>
          <a:prstGeom prst="rect">
            <a:avLst/>
          </a:prstGeom>
          <a:noFill/>
          <a:ln/>
        </p:spPr>
        <p:txBody>
          <a:bodyPr wrap="square" lIns="0" tIns="0" rIns="0" bIns="0" rtlCol="0" anchor="ctr"/>
          <a:lstStyle/>
          <a:p>
            <a:pPr indent="0" marL="0">
              <a:buNone/>
            </a:pPr>
            <a:r>
              <a:rPr lang="en-US" sz="1500" b="1" dirty="0">
                <a:solidFill>
                  <a:schemeClr val="accent1"/>
                </a:solidFill>
              </a:rPr>
              <a:t>PARTS B &amp; C</a:t>
            </a:r>
            <a:endParaRPr lang="en-US" sz="1500" dirty="0"/>
          </a:p>
        </p:txBody>
      </p:sp>
      <p:sp>
        <p:nvSpPr>
          <p:cNvPr id="5" name="part marks"/>
          <p:cNvSpPr txBox="1"/>
          <p:nvPr/>
        </p:nvSpPr>
        <p:spPr>
          <a:xfrm>
            <a:off x="868680" y="2057400"/>
            <a:ext cx="2468880" cy="1188720"/>
          </a:xfrm>
          <a:prstGeom prst="rect">
            <a:avLst/>
          </a:prstGeom>
          <a:noFill/>
          <a:ln/>
        </p:spPr>
        <p:txBody>
          <a:bodyPr wrap="square" lIns="0" tIns="0" rIns="0" bIns="0" rtlCol="0" anchor="ctr"/>
          <a:lstStyle/>
          <a:p>
            <a:pPr indent="0" marL="0">
              <a:buNone/>
            </a:pPr>
            <a:r>
              <a:rPr lang="en-US" sz="6600" b="1" dirty="0">
                <a:solidFill>
                  <a:schemeClr val="tx1"/>
                </a:solidFill>
                <a:latin typeface="Cambria" pitchFamily="34" charset="0"/>
                <a:ea typeface="Cambria" pitchFamily="34" charset="-122"/>
                <a:cs typeface="Cambria" pitchFamily="34" charset="-120"/>
              </a:rPr>
              <a:t>25</a:t>
            </a:r>
            <a:endParaRPr lang="en-US" sz="6600" dirty="0"/>
          </a:p>
        </p:txBody>
      </p:sp>
      <p:sp>
        <p:nvSpPr>
          <p:cNvPr id="6" name="part detail"/>
          <p:cNvSpPr txBox="1"/>
          <p:nvPr/>
        </p:nvSpPr>
        <p:spPr>
          <a:xfrm>
            <a:off x="868680" y="3291840"/>
            <a:ext cx="2468880" cy="2377440"/>
          </a:xfrm>
          <a:prstGeom prst="rect">
            <a:avLst/>
          </a:prstGeom>
          <a:noFill/>
          <a:ln/>
        </p:spPr>
        <p:txBody>
          <a:bodyPr wrap="square" lIns="0" tIns="0" rIns="0" bIns="0" rtlCol="0" anchor="t"/>
          <a:lstStyle/>
          <a:p>
            <a:pPr indent="0" marL="0">
              <a:buNone/>
            </a:pPr>
            <a:r>
              <a:rPr lang="en-US" sz="1500" dirty="0">
                <a:solidFill>
                  <a:schemeClr val="tx2"/>
                </a:solidFill>
              </a:rPr>
              <a:t>marks · 2-mark and 3-mark questions. Answer 5 of 7 in each part.</a:t>
            </a:r>
            <a:endParaRPr lang="en-US" sz="1500" dirty="0"/>
          </a:p>
        </p:txBody>
      </p:sp>
      <p:sp>
        <p:nvSpPr>
          <p:cNvPr id="7" name="One point for every mark circle"/>
          <p:cNvSpPr/>
          <p:nvPr/>
        </p:nvSpPr>
        <p:spPr>
          <a:xfrm>
            <a:off x="3931920" y="1417320"/>
            <a:ext cx="685800" cy="685800"/>
          </a:xfrm>
          <a:prstGeom prst="ellipse">
            <a:avLst/>
          </a:prstGeom>
          <a:solidFill>
            <a:srgbClr val="0B8F80"/>
          </a:solidFill>
          <a:ln/>
        </p:spPr>
      </p:sp>
      <p:pic>
        <p:nvPicPr>
          <p:cNvPr id="8" name="One point for every mark icon" descr="preencoded.png">    </p:cNvPr>
          <p:cNvPicPr>
            <a:picLocks noChangeAspect="1"/>
          </p:cNvPicPr>
          <p:nvPr/>
        </p:nvPicPr>
        <p:blipFill>
          <a:blip r:embed="rId1"/>
          <a:stretch>
            <a:fillRect/>
          </a:stretch>
        </p:blipFill>
        <p:spPr>
          <a:xfrm>
            <a:off x="4096512" y="1581912"/>
            <a:ext cx="356616" cy="356616"/>
          </a:xfrm>
          <a:prstGeom prst="rect">
            <a:avLst/>
          </a:prstGeom>
        </p:spPr>
      </p:pic>
      <p:sp>
        <p:nvSpPr>
          <p:cNvPr id="9" name="One point for every mark"/>
          <p:cNvSpPr txBox="1"/>
          <p:nvPr/>
        </p:nvSpPr>
        <p:spPr>
          <a:xfrm>
            <a:off x="4846320" y="1371600"/>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One point for every mark</a:t>
            </a:r>
            <a:endParaRPr lang="en-US" sz="1800" dirty="0"/>
          </a:p>
          <a:p>
            <a:pPr indent="0" marL="0">
              <a:spcAft>
                <a:spcPts val="300"/>
              </a:spcAft>
              <a:buNone/>
            </a:pPr>
            <a:r>
              <a:rPr lang="en-US" sz="1500" dirty="0">
                <a:solidFill>
                  <a:schemeClr val="tx2"/>
                </a:solidFill>
              </a:rPr>
              <a:t>2 marks → 2 clear points; 3 marks → 3 clear points.</a:t>
            </a:r>
            <a:endParaRPr lang="en-US" sz="1800" dirty="0"/>
          </a:p>
        </p:txBody>
      </p:sp>
      <p:sp>
        <p:nvSpPr>
          <p:cNvPr id="10" name="Definition + example circle"/>
          <p:cNvSpPr/>
          <p:nvPr/>
        </p:nvSpPr>
        <p:spPr>
          <a:xfrm>
            <a:off x="3931920" y="2624328"/>
            <a:ext cx="685800" cy="685800"/>
          </a:xfrm>
          <a:prstGeom prst="ellipse">
            <a:avLst/>
          </a:prstGeom>
          <a:solidFill>
            <a:srgbClr val="0B8F80"/>
          </a:solidFill>
          <a:ln/>
        </p:spPr>
      </p:sp>
      <p:pic>
        <p:nvPicPr>
          <p:cNvPr id="11" name="Definition + example icon" descr="preencoded.png">    </p:cNvPr>
          <p:cNvPicPr>
            <a:picLocks noChangeAspect="1"/>
          </p:cNvPicPr>
          <p:nvPr/>
        </p:nvPicPr>
        <p:blipFill>
          <a:blip r:embed="rId2"/>
          <a:stretch>
            <a:fillRect/>
          </a:stretch>
        </p:blipFill>
        <p:spPr>
          <a:xfrm>
            <a:off x="4096512" y="2788920"/>
            <a:ext cx="356616" cy="356616"/>
          </a:xfrm>
          <a:prstGeom prst="rect">
            <a:avLst/>
          </a:prstGeom>
        </p:spPr>
      </p:pic>
      <p:sp>
        <p:nvSpPr>
          <p:cNvPr id="12" name="Definition + example"/>
          <p:cNvSpPr txBox="1"/>
          <p:nvPr/>
        </p:nvSpPr>
        <p:spPr>
          <a:xfrm>
            <a:off x="4846320" y="2578608"/>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Definition + example</a:t>
            </a:r>
            <a:endParaRPr lang="en-US" sz="1800" dirty="0"/>
          </a:p>
          <a:p>
            <a:pPr indent="0" marL="0">
              <a:spcAft>
                <a:spcPts val="300"/>
              </a:spcAft>
              <a:buNone/>
            </a:pPr>
            <a:r>
              <a:rPr lang="en-US" sz="1500" dirty="0">
                <a:solidFill>
                  <a:schemeClr val="tx2"/>
                </a:solidFill>
              </a:rPr>
              <a:t>Start with the definition, then add one named example.</a:t>
            </a:r>
            <a:endParaRPr lang="en-US" sz="1800" dirty="0"/>
          </a:p>
        </p:txBody>
      </p:sp>
      <p:sp>
        <p:nvSpPr>
          <p:cNvPr id="13" name="Differences in a table circle"/>
          <p:cNvSpPr/>
          <p:nvPr/>
        </p:nvSpPr>
        <p:spPr>
          <a:xfrm>
            <a:off x="3931920" y="3831336"/>
            <a:ext cx="685800" cy="685800"/>
          </a:xfrm>
          <a:prstGeom prst="ellipse">
            <a:avLst/>
          </a:prstGeom>
          <a:solidFill>
            <a:srgbClr val="0B8F80"/>
          </a:solidFill>
          <a:ln/>
        </p:spPr>
      </p:sp>
      <p:pic>
        <p:nvPicPr>
          <p:cNvPr id="14" name="Differences in a table icon" descr="preencoded.png">    </p:cNvPr>
          <p:cNvPicPr>
            <a:picLocks noChangeAspect="1"/>
          </p:cNvPicPr>
          <p:nvPr/>
        </p:nvPicPr>
        <p:blipFill>
          <a:blip r:embed="rId3"/>
          <a:stretch>
            <a:fillRect/>
          </a:stretch>
        </p:blipFill>
        <p:spPr>
          <a:xfrm>
            <a:off x="4096512" y="3995928"/>
            <a:ext cx="356616" cy="356616"/>
          </a:xfrm>
          <a:prstGeom prst="rect">
            <a:avLst/>
          </a:prstGeom>
        </p:spPr>
      </p:pic>
      <p:sp>
        <p:nvSpPr>
          <p:cNvPr id="15" name="Differences in a table"/>
          <p:cNvSpPr txBox="1"/>
          <p:nvPr/>
        </p:nvSpPr>
        <p:spPr>
          <a:xfrm>
            <a:off x="4846320" y="3785616"/>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Differences in a table</a:t>
            </a:r>
            <a:endParaRPr lang="en-US" sz="1800" dirty="0"/>
          </a:p>
          <a:p>
            <a:pPr indent="0" marL="0">
              <a:spcAft>
                <a:spcPts val="300"/>
              </a:spcAft>
              <a:buNone/>
            </a:pPr>
            <a:r>
              <a:rPr lang="en-US" sz="1500" dirty="0">
                <a:solidFill>
                  <a:schemeClr val="tx2"/>
                </a:solidFill>
              </a:rPr>
              <a:t>Use a two-column table with matching points, not a paragraph.</a:t>
            </a:r>
            <a:endParaRPr lang="en-US" sz="1800" dirty="0"/>
          </a:p>
        </p:txBody>
      </p:sp>
      <p:sp>
        <p:nvSpPr>
          <p:cNvPr id="16" name="Underline key terms circle"/>
          <p:cNvSpPr/>
          <p:nvPr/>
        </p:nvSpPr>
        <p:spPr>
          <a:xfrm>
            <a:off x="3931920" y="5038344"/>
            <a:ext cx="685800" cy="685800"/>
          </a:xfrm>
          <a:prstGeom prst="ellipse">
            <a:avLst/>
          </a:prstGeom>
          <a:solidFill>
            <a:srgbClr val="0B8F80"/>
          </a:solidFill>
          <a:ln/>
        </p:spPr>
      </p:sp>
      <p:pic>
        <p:nvPicPr>
          <p:cNvPr id="17" name="Underline key terms icon" descr="preencoded.png">    </p:cNvPr>
          <p:cNvPicPr>
            <a:picLocks noChangeAspect="1"/>
          </p:cNvPicPr>
          <p:nvPr/>
        </p:nvPicPr>
        <p:blipFill>
          <a:blip r:embed="rId4"/>
          <a:stretch>
            <a:fillRect/>
          </a:stretch>
        </p:blipFill>
        <p:spPr>
          <a:xfrm>
            <a:off x="4096512" y="5202936"/>
            <a:ext cx="356616" cy="356616"/>
          </a:xfrm>
          <a:prstGeom prst="rect">
            <a:avLst/>
          </a:prstGeom>
        </p:spPr>
      </p:pic>
      <p:sp>
        <p:nvSpPr>
          <p:cNvPr id="18" name="Underline key terms"/>
          <p:cNvSpPr txBox="1"/>
          <p:nvPr/>
        </p:nvSpPr>
        <p:spPr>
          <a:xfrm>
            <a:off x="4846320" y="4992624"/>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Underline key terms</a:t>
            </a:r>
            <a:endParaRPr lang="en-US" sz="1800" dirty="0"/>
          </a:p>
          <a:p>
            <a:pPr indent="0" marL="0">
              <a:spcAft>
                <a:spcPts val="300"/>
              </a:spcAft>
              <a:buNone/>
            </a:pPr>
            <a:r>
              <a:rPr lang="en-US" sz="1500" dirty="0">
                <a:solidFill>
                  <a:schemeClr val="tx2"/>
                </a:solidFill>
              </a:rPr>
              <a:t>Help the examiner find your scoring words quickly.</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Part D: five-mark answers</a:t>
            </a:r>
            <a:endParaRPr lang="en-US" sz="3400" dirty="0"/>
          </a:p>
        </p:txBody>
      </p:sp>
      <p:sp>
        <p:nvSpPr>
          <p:cNvPr id="3" name="part panel"/>
          <p:cNvSpPr/>
          <p:nvPr/>
        </p:nvSpPr>
        <p:spPr>
          <a:xfrm>
            <a:off x="548640" y="1325880"/>
            <a:ext cx="3017520" cy="4800600"/>
          </a:xfrm>
          <a:prstGeom prst="roundRect">
            <a:avLst>
              <a:gd name="adj" fmla="val 3636"/>
            </a:avLst>
          </a:prstGeom>
          <a:solidFill>
            <a:srgbClr val="FBF1D5"/>
          </a:solidFill>
          <a:ln/>
        </p:spPr>
      </p:sp>
      <p:sp>
        <p:nvSpPr>
          <p:cNvPr id="4" name="part label"/>
          <p:cNvSpPr txBox="1"/>
          <p:nvPr/>
        </p:nvSpPr>
        <p:spPr>
          <a:xfrm>
            <a:off x="868680" y="1645920"/>
            <a:ext cx="2468880" cy="365760"/>
          </a:xfrm>
          <a:prstGeom prst="rect">
            <a:avLst/>
          </a:prstGeom>
          <a:noFill/>
          <a:ln/>
        </p:spPr>
        <p:txBody>
          <a:bodyPr wrap="square" lIns="0" tIns="0" rIns="0" bIns="0" rtlCol="0" anchor="ctr"/>
          <a:lstStyle/>
          <a:p>
            <a:pPr indent="0" marL="0">
              <a:buNone/>
            </a:pPr>
            <a:r>
              <a:rPr lang="en-US" sz="1500" b="1" dirty="0">
                <a:solidFill>
                  <a:schemeClr val="accent2"/>
                </a:solidFill>
              </a:rPr>
              <a:t>PART D</a:t>
            </a:r>
            <a:endParaRPr lang="en-US" sz="1500" dirty="0"/>
          </a:p>
        </p:txBody>
      </p:sp>
      <p:sp>
        <p:nvSpPr>
          <p:cNvPr id="5" name="part marks"/>
          <p:cNvSpPr txBox="1"/>
          <p:nvPr/>
        </p:nvSpPr>
        <p:spPr>
          <a:xfrm>
            <a:off x="868680" y="2057400"/>
            <a:ext cx="2468880" cy="1188720"/>
          </a:xfrm>
          <a:prstGeom prst="rect">
            <a:avLst/>
          </a:prstGeom>
          <a:noFill/>
          <a:ln/>
        </p:spPr>
        <p:txBody>
          <a:bodyPr wrap="square" lIns="0" tIns="0" rIns="0" bIns="0" rtlCol="0" anchor="ctr"/>
          <a:lstStyle/>
          <a:p>
            <a:pPr indent="0" marL="0">
              <a:buNone/>
            </a:pPr>
            <a:r>
              <a:rPr lang="en-US" sz="6600" b="1" dirty="0">
                <a:solidFill>
                  <a:schemeClr val="tx1"/>
                </a:solidFill>
                <a:latin typeface="Cambria" pitchFamily="34" charset="0"/>
                <a:ea typeface="Cambria" pitchFamily="34" charset="-122"/>
                <a:cs typeface="Cambria" pitchFamily="34" charset="-120"/>
              </a:rPr>
              <a:t>25</a:t>
            </a:r>
            <a:endParaRPr lang="en-US" sz="6600" dirty="0"/>
          </a:p>
        </p:txBody>
      </p:sp>
      <p:sp>
        <p:nvSpPr>
          <p:cNvPr id="6" name="part detail"/>
          <p:cNvSpPr txBox="1"/>
          <p:nvPr/>
        </p:nvSpPr>
        <p:spPr>
          <a:xfrm>
            <a:off x="868680" y="3291840"/>
            <a:ext cx="2468880" cy="2377440"/>
          </a:xfrm>
          <a:prstGeom prst="rect">
            <a:avLst/>
          </a:prstGeom>
          <a:noFill/>
          <a:ln/>
        </p:spPr>
        <p:txBody>
          <a:bodyPr wrap="square" lIns="0" tIns="0" rIns="0" bIns="0" rtlCol="0" anchor="t"/>
          <a:lstStyle/>
          <a:p>
            <a:pPr indent="0" marL="0">
              <a:buNone/>
            </a:pPr>
            <a:r>
              <a:rPr lang="en-US" sz="1500" dirty="0">
                <a:solidFill>
                  <a:schemeClr val="tx2"/>
                </a:solidFill>
              </a:rPr>
              <a:t>marks · 4 of 7 long answers and 1 of 3 in section VI (tables, identification).</a:t>
            </a:r>
            <a:endParaRPr lang="en-US" sz="1500" dirty="0"/>
          </a:p>
        </p:txBody>
      </p:sp>
      <p:sp>
        <p:nvSpPr>
          <p:cNvPr id="7" name="Plan, then write circle"/>
          <p:cNvSpPr/>
          <p:nvPr/>
        </p:nvSpPr>
        <p:spPr>
          <a:xfrm>
            <a:off x="3931920" y="1417320"/>
            <a:ext cx="685800" cy="685800"/>
          </a:xfrm>
          <a:prstGeom prst="ellipse">
            <a:avLst/>
          </a:prstGeom>
          <a:solidFill>
            <a:srgbClr val="C99A1E"/>
          </a:solidFill>
          <a:ln/>
        </p:spPr>
      </p:sp>
      <p:pic>
        <p:nvPicPr>
          <p:cNvPr id="8" name="Plan, then write icon" descr="preencoded.png">    </p:cNvPr>
          <p:cNvPicPr>
            <a:picLocks noChangeAspect="1"/>
          </p:cNvPicPr>
          <p:nvPr/>
        </p:nvPicPr>
        <p:blipFill>
          <a:blip r:embed="rId1"/>
          <a:stretch>
            <a:fillRect/>
          </a:stretch>
        </p:blipFill>
        <p:spPr>
          <a:xfrm>
            <a:off x="4096512" y="1581912"/>
            <a:ext cx="356616" cy="356616"/>
          </a:xfrm>
          <a:prstGeom prst="rect">
            <a:avLst/>
          </a:prstGeom>
        </p:spPr>
      </p:pic>
      <p:sp>
        <p:nvSpPr>
          <p:cNvPr id="9" name="Plan, then write"/>
          <p:cNvSpPr txBox="1"/>
          <p:nvPr/>
        </p:nvSpPr>
        <p:spPr>
          <a:xfrm>
            <a:off x="4846320" y="1371600"/>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Plan, then write</a:t>
            </a:r>
            <a:endParaRPr lang="en-US" sz="1800" dirty="0"/>
          </a:p>
          <a:p>
            <a:pPr indent="0" marL="0">
              <a:spcAft>
                <a:spcPts val="300"/>
              </a:spcAft>
              <a:buNone/>
            </a:pPr>
            <a:r>
              <a:rPr lang="en-US" sz="1500" dirty="0">
                <a:solidFill>
                  <a:schemeClr val="tx2"/>
                </a:solidFill>
              </a:rPr>
              <a:t>One-line intro → headed points → examples → short conclusion.</a:t>
            </a:r>
            <a:endParaRPr lang="en-US" sz="1800" dirty="0"/>
          </a:p>
        </p:txBody>
      </p:sp>
      <p:sp>
        <p:nvSpPr>
          <p:cNvPr id="10" name="Add a labelled diagram circle"/>
          <p:cNvSpPr/>
          <p:nvPr/>
        </p:nvSpPr>
        <p:spPr>
          <a:xfrm>
            <a:off x="3931920" y="2624328"/>
            <a:ext cx="685800" cy="685800"/>
          </a:xfrm>
          <a:prstGeom prst="ellipse">
            <a:avLst/>
          </a:prstGeom>
          <a:solidFill>
            <a:srgbClr val="C99A1E"/>
          </a:solidFill>
          <a:ln/>
        </p:spPr>
      </p:sp>
      <p:pic>
        <p:nvPicPr>
          <p:cNvPr id="11" name="Add a labelled diagram icon" descr="preencoded.png">    </p:cNvPr>
          <p:cNvPicPr>
            <a:picLocks noChangeAspect="1"/>
          </p:cNvPicPr>
          <p:nvPr/>
        </p:nvPicPr>
        <p:blipFill>
          <a:blip r:embed="rId2"/>
          <a:stretch>
            <a:fillRect/>
          </a:stretch>
        </p:blipFill>
        <p:spPr>
          <a:xfrm>
            <a:off x="4096512" y="2788920"/>
            <a:ext cx="356616" cy="356616"/>
          </a:xfrm>
          <a:prstGeom prst="rect">
            <a:avLst/>
          </a:prstGeom>
        </p:spPr>
      </p:pic>
      <p:sp>
        <p:nvSpPr>
          <p:cNvPr id="12" name="Add a labelled diagram"/>
          <p:cNvSpPr txBox="1"/>
          <p:nvPr/>
        </p:nvSpPr>
        <p:spPr>
          <a:xfrm>
            <a:off x="4846320" y="2578608"/>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Add a labelled diagram</a:t>
            </a:r>
            <a:endParaRPr lang="en-US" sz="1800" dirty="0"/>
          </a:p>
          <a:p>
            <a:pPr indent="0" marL="0">
              <a:spcAft>
                <a:spcPts val="300"/>
              </a:spcAft>
              <a:buNone/>
            </a:pPr>
            <a:r>
              <a:rPr lang="en-US" sz="1500" dirty="0">
                <a:solidFill>
                  <a:schemeClr val="tx2"/>
                </a:solidFill>
              </a:rPr>
              <a:t>Pick questions whose diagram you can draw confidently.</a:t>
            </a:r>
            <a:endParaRPr lang="en-US" sz="1800" dirty="0"/>
          </a:p>
        </p:txBody>
      </p:sp>
      <p:sp>
        <p:nvSpPr>
          <p:cNvPr id="13" name="Aim for 200–250 words circle"/>
          <p:cNvSpPr/>
          <p:nvPr/>
        </p:nvSpPr>
        <p:spPr>
          <a:xfrm>
            <a:off x="3931920" y="3831336"/>
            <a:ext cx="685800" cy="685800"/>
          </a:xfrm>
          <a:prstGeom prst="ellipse">
            <a:avLst/>
          </a:prstGeom>
          <a:solidFill>
            <a:srgbClr val="C99A1E"/>
          </a:solidFill>
          <a:ln/>
        </p:spPr>
      </p:sp>
      <p:pic>
        <p:nvPicPr>
          <p:cNvPr id="14" name="Aim for 200–250 words icon" descr="preencoded.png">    </p:cNvPr>
          <p:cNvPicPr>
            <a:picLocks noChangeAspect="1"/>
          </p:cNvPicPr>
          <p:nvPr/>
        </p:nvPicPr>
        <p:blipFill>
          <a:blip r:embed="rId3"/>
          <a:stretch>
            <a:fillRect/>
          </a:stretch>
        </p:blipFill>
        <p:spPr>
          <a:xfrm>
            <a:off x="4096512" y="3995928"/>
            <a:ext cx="356616" cy="356616"/>
          </a:xfrm>
          <a:prstGeom prst="rect">
            <a:avLst/>
          </a:prstGeom>
        </p:spPr>
      </p:pic>
      <p:sp>
        <p:nvSpPr>
          <p:cNvPr id="15" name="Aim for 200–250 words"/>
          <p:cNvSpPr txBox="1"/>
          <p:nvPr/>
        </p:nvSpPr>
        <p:spPr>
          <a:xfrm>
            <a:off x="4846320" y="3785616"/>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Aim for 200–250 words</a:t>
            </a:r>
            <a:endParaRPr lang="en-US" sz="1800" dirty="0"/>
          </a:p>
          <a:p>
            <a:pPr indent="0" marL="0">
              <a:spcAft>
                <a:spcPts val="300"/>
              </a:spcAft>
              <a:buNone/>
            </a:pPr>
            <a:r>
              <a:rPr lang="en-US" sz="1500" dirty="0">
                <a:solidFill>
                  <a:schemeClr val="tx2"/>
                </a:solidFill>
              </a:rPr>
              <a:t>Point-wise answers score better than long paragraphs.</a:t>
            </a:r>
            <a:endParaRPr lang="en-US" sz="1800" dirty="0"/>
          </a:p>
        </p:txBody>
      </p:sp>
      <p:sp>
        <p:nvSpPr>
          <p:cNvPr id="16" name="Section VI: answer by letter circle"/>
          <p:cNvSpPr/>
          <p:nvPr/>
        </p:nvSpPr>
        <p:spPr>
          <a:xfrm>
            <a:off x="3931920" y="5038344"/>
            <a:ext cx="685800" cy="685800"/>
          </a:xfrm>
          <a:prstGeom prst="ellipse">
            <a:avLst/>
          </a:prstGeom>
          <a:solidFill>
            <a:srgbClr val="C99A1E"/>
          </a:solidFill>
          <a:ln/>
        </p:spPr>
      </p:sp>
      <p:pic>
        <p:nvPicPr>
          <p:cNvPr id="17" name="Section VI: answer by letter icon" descr="preencoded.png">    </p:cNvPr>
          <p:cNvPicPr>
            <a:picLocks noChangeAspect="1"/>
          </p:cNvPicPr>
          <p:nvPr/>
        </p:nvPicPr>
        <p:blipFill>
          <a:blip r:embed="rId4"/>
          <a:stretch>
            <a:fillRect/>
          </a:stretch>
        </p:blipFill>
        <p:spPr>
          <a:xfrm>
            <a:off x="4096512" y="5202936"/>
            <a:ext cx="356616" cy="356616"/>
          </a:xfrm>
          <a:prstGeom prst="rect">
            <a:avLst/>
          </a:prstGeom>
        </p:spPr>
      </p:pic>
      <p:sp>
        <p:nvSpPr>
          <p:cNvPr id="18" name="Section VI: answer by letter"/>
          <p:cNvSpPr txBox="1"/>
          <p:nvPr/>
        </p:nvSpPr>
        <p:spPr>
          <a:xfrm>
            <a:off x="4846320" y="4992624"/>
            <a:ext cx="6766560" cy="10515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Section VI: answer by letter</a:t>
            </a:r>
            <a:endParaRPr lang="en-US" sz="1800" dirty="0"/>
          </a:p>
          <a:p>
            <a:pPr indent="0" marL="0">
              <a:spcAft>
                <a:spcPts val="300"/>
              </a:spcAft>
              <a:buNone/>
            </a:pPr>
            <a:r>
              <a:rPr lang="en-US" sz="1500" dirty="0">
                <a:solidFill>
                  <a:schemeClr val="tx2"/>
                </a:solidFill>
              </a:rPr>
              <a:t>Write A = …, B = …, C = … clearly against each item.</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Your plan inside the exam hall</a:t>
            </a:r>
            <a:endParaRPr lang="en-US" sz="3400" dirty="0"/>
          </a:p>
        </p:txBody>
      </p:sp>
      <p:sp>
        <p:nvSpPr>
          <p:cNvPr id="3" name="step card 1"/>
          <p:cNvSpPr/>
          <p:nvPr/>
        </p:nvSpPr>
        <p:spPr>
          <a:xfrm>
            <a:off x="548640" y="1828800"/>
            <a:ext cx="1993392" cy="3291840"/>
          </a:xfrm>
          <a:prstGeom prst="roundRect">
            <a:avLst>
              <a:gd name="adj" fmla="val 5505"/>
            </a:avLst>
          </a:prstGeom>
          <a:solidFill>
            <a:srgbClr val="E8F3F1"/>
          </a:solidFill>
          <a:ln/>
        </p:spPr>
      </p:sp>
      <p:sp>
        <p:nvSpPr>
          <p:cNvPr id="4" name="step badge 1"/>
          <p:cNvSpPr/>
          <p:nvPr/>
        </p:nvSpPr>
        <p:spPr>
          <a:xfrm>
            <a:off x="1179576" y="2148840"/>
            <a:ext cx="731520" cy="731520"/>
          </a:xfrm>
          <a:prstGeom prst="ellipse">
            <a:avLst/>
          </a:prstGeom>
          <a:solidFill>
            <a:srgbClr val="0B8F80"/>
          </a:solidFill>
          <a:ln/>
        </p:spPr>
      </p:sp>
      <p:sp>
        <p:nvSpPr>
          <p:cNvPr id="5" name="step number 1"/>
          <p:cNvSpPr txBox="1"/>
          <p:nvPr/>
        </p:nvSpPr>
        <p:spPr>
          <a:xfrm>
            <a:off x="1179576" y="2148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6" name="step title 1"/>
          <p:cNvSpPr txBox="1"/>
          <p:nvPr/>
        </p:nvSpPr>
        <p:spPr>
          <a:xfrm>
            <a:off x="685800" y="3108960"/>
            <a:ext cx="1719072" cy="685800"/>
          </a:xfrm>
          <a:prstGeom prst="rect">
            <a:avLst/>
          </a:prstGeom>
          <a:noFill/>
          <a:ln/>
        </p:spPr>
        <p:txBody>
          <a:bodyPr wrap="square" lIns="0" tIns="0" rIns="0" bIns="0" rtlCol="0" anchor="ctr"/>
          <a:lstStyle/>
          <a:p>
            <a:pPr algn="ctr" indent="0" marL="0">
              <a:buNone/>
            </a:pPr>
            <a:r>
              <a:rPr lang="en-US" sz="1800" b="1" dirty="0">
                <a:solidFill>
                  <a:schemeClr val="tx1"/>
                </a:solidFill>
              </a:rPr>
              <a:t>Read the paper</a:t>
            </a:r>
            <a:endParaRPr lang="en-US" sz="1800" dirty="0"/>
          </a:p>
        </p:txBody>
      </p:sp>
      <p:sp>
        <p:nvSpPr>
          <p:cNvPr id="7" name="step text 1"/>
          <p:cNvSpPr txBox="1"/>
          <p:nvPr/>
        </p:nvSpPr>
        <p:spPr>
          <a:xfrm>
            <a:off x="685800" y="3840480"/>
            <a:ext cx="1719072" cy="1005840"/>
          </a:xfrm>
          <a:prstGeom prst="rect">
            <a:avLst/>
          </a:prstGeom>
          <a:noFill/>
          <a:ln/>
        </p:spPr>
        <p:txBody>
          <a:bodyPr wrap="square" lIns="0" tIns="0" rIns="0" bIns="0" rtlCol="0" anchor="t"/>
          <a:lstStyle/>
          <a:p>
            <a:pPr algn="ctr" indent="0" marL="0">
              <a:buNone/>
            </a:pPr>
            <a:r>
              <a:rPr lang="en-US" sz="1500" dirty="0">
                <a:solidFill>
                  <a:schemeClr val="tx2"/>
                </a:solidFill>
              </a:rPr>
              <a:t>Tick the questions you will answer</a:t>
            </a:r>
            <a:endParaRPr lang="en-US" sz="1500" dirty="0"/>
          </a:p>
        </p:txBody>
      </p:sp>
      <p:sp>
        <p:nvSpPr>
          <p:cNvPr id="8" name="arrow 1"/>
          <p:cNvSpPr/>
          <p:nvPr/>
        </p:nvSpPr>
        <p:spPr>
          <a:xfrm>
            <a:off x="2587752" y="3291840"/>
            <a:ext cx="182880" cy="365760"/>
          </a:xfrm>
          <a:prstGeom prst="rightArrow">
            <a:avLst/>
          </a:prstGeom>
          <a:solidFill>
            <a:srgbClr val="B7C9C6"/>
          </a:solidFill>
          <a:ln/>
        </p:spPr>
      </p:sp>
      <p:sp>
        <p:nvSpPr>
          <p:cNvPr id="9" name="step card 2"/>
          <p:cNvSpPr/>
          <p:nvPr/>
        </p:nvSpPr>
        <p:spPr>
          <a:xfrm>
            <a:off x="2816352" y="1828800"/>
            <a:ext cx="1993392" cy="3291840"/>
          </a:xfrm>
          <a:prstGeom prst="roundRect">
            <a:avLst>
              <a:gd name="adj" fmla="val 5505"/>
            </a:avLst>
          </a:prstGeom>
          <a:solidFill>
            <a:srgbClr val="E8F3F1"/>
          </a:solidFill>
          <a:ln/>
        </p:spPr>
      </p:sp>
      <p:sp>
        <p:nvSpPr>
          <p:cNvPr id="10" name="step badge 2"/>
          <p:cNvSpPr/>
          <p:nvPr/>
        </p:nvSpPr>
        <p:spPr>
          <a:xfrm>
            <a:off x="3447288" y="2148840"/>
            <a:ext cx="731520" cy="731520"/>
          </a:xfrm>
          <a:prstGeom prst="ellipse">
            <a:avLst/>
          </a:prstGeom>
          <a:solidFill>
            <a:srgbClr val="0B8F80"/>
          </a:solidFill>
          <a:ln/>
        </p:spPr>
      </p:sp>
      <p:sp>
        <p:nvSpPr>
          <p:cNvPr id="11" name="step number 2"/>
          <p:cNvSpPr txBox="1"/>
          <p:nvPr/>
        </p:nvSpPr>
        <p:spPr>
          <a:xfrm>
            <a:off x="3447288" y="2148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2" name="step title 2"/>
          <p:cNvSpPr txBox="1"/>
          <p:nvPr/>
        </p:nvSpPr>
        <p:spPr>
          <a:xfrm>
            <a:off x="2953512" y="3108960"/>
            <a:ext cx="1719072" cy="685800"/>
          </a:xfrm>
          <a:prstGeom prst="rect">
            <a:avLst/>
          </a:prstGeom>
          <a:noFill/>
          <a:ln/>
        </p:spPr>
        <p:txBody>
          <a:bodyPr wrap="square" lIns="0" tIns="0" rIns="0" bIns="0" rtlCol="0" anchor="ctr"/>
          <a:lstStyle/>
          <a:p>
            <a:pPr algn="ctr" indent="0" marL="0">
              <a:buNone/>
            </a:pPr>
            <a:r>
              <a:rPr lang="en-US" sz="1800" b="1" dirty="0">
                <a:solidFill>
                  <a:schemeClr val="tx1"/>
                </a:solidFill>
              </a:rPr>
              <a:t>Finish Part A</a:t>
            </a:r>
            <a:endParaRPr lang="en-US" sz="1800" dirty="0"/>
          </a:p>
        </p:txBody>
      </p:sp>
      <p:sp>
        <p:nvSpPr>
          <p:cNvPr id="13" name="step text 2"/>
          <p:cNvSpPr txBox="1"/>
          <p:nvPr/>
        </p:nvSpPr>
        <p:spPr>
          <a:xfrm>
            <a:off x="2953512" y="3840480"/>
            <a:ext cx="1719072" cy="1005840"/>
          </a:xfrm>
          <a:prstGeom prst="rect">
            <a:avLst/>
          </a:prstGeom>
          <a:noFill/>
          <a:ln/>
        </p:spPr>
        <p:txBody>
          <a:bodyPr wrap="square" lIns="0" tIns="0" rIns="0" bIns="0" rtlCol="0" anchor="t"/>
          <a:lstStyle/>
          <a:p>
            <a:pPr algn="ctr" indent="0" marL="0">
              <a:buNone/>
            </a:pPr>
            <a:r>
              <a:rPr lang="en-US" sz="1500" dirty="0">
                <a:solidFill>
                  <a:schemeClr val="tx2"/>
                </a:solidFill>
              </a:rPr>
              <a:t>Quick, sure marks first</a:t>
            </a:r>
            <a:endParaRPr lang="en-US" sz="1500" dirty="0"/>
          </a:p>
        </p:txBody>
      </p:sp>
      <p:sp>
        <p:nvSpPr>
          <p:cNvPr id="14" name="arrow 2"/>
          <p:cNvSpPr/>
          <p:nvPr/>
        </p:nvSpPr>
        <p:spPr>
          <a:xfrm>
            <a:off x="4855464" y="3291840"/>
            <a:ext cx="182880" cy="365760"/>
          </a:xfrm>
          <a:prstGeom prst="rightArrow">
            <a:avLst/>
          </a:prstGeom>
          <a:solidFill>
            <a:srgbClr val="B7C9C6"/>
          </a:solidFill>
          <a:ln/>
        </p:spPr>
      </p:sp>
      <p:sp>
        <p:nvSpPr>
          <p:cNvPr id="15" name="step card 3"/>
          <p:cNvSpPr/>
          <p:nvPr/>
        </p:nvSpPr>
        <p:spPr>
          <a:xfrm>
            <a:off x="5084064" y="1828800"/>
            <a:ext cx="1993392" cy="3291840"/>
          </a:xfrm>
          <a:prstGeom prst="roundRect">
            <a:avLst>
              <a:gd name="adj" fmla="val 5505"/>
            </a:avLst>
          </a:prstGeom>
          <a:solidFill>
            <a:srgbClr val="E8F3F1"/>
          </a:solidFill>
          <a:ln/>
        </p:spPr>
      </p:sp>
      <p:sp>
        <p:nvSpPr>
          <p:cNvPr id="16" name="step badge 3"/>
          <p:cNvSpPr/>
          <p:nvPr/>
        </p:nvSpPr>
        <p:spPr>
          <a:xfrm>
            <a:off x="5715000" y="2148840"/>
            <a:ext cx="731520" cy="731520"/>
          </a:xfrm>
          <a:prstGeom prst="ellipse">
            <a:avLst/>
          </a:prstGeom>
          <a:solidFill>
            <a:srgbClr val="0B8F80"/>
          </a:solidFill>
          <a:ln/>
        </p:spPr>
      </p:sp>
      <p:sp>
        <p:nvSpPr>
          <p:cNvPr id="17" name="step number 3"/>
          <p:cNvSpPr txBox="1"/>
          <p:nvPr/>
        </p:nvSpPr>
        <p:spPr>
          <a:xfrm>
            <a:off x="5715000" y="2148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8" name="step title 3"/>
          <p:cNvSpPr txBox="1"/>
          <p:nvPr/>
        </p:nvSpPr>
        <p:spPr>
          <a:xfrm>
            <a:off x="5221224" y="3108960"/>
            <a:ext cx="1719072" cy="685800"/>
          </a:xfrm>
          <a:prstGeom prst="rect">
            <a:avLst/>
          </a:prstGeom>
          <a:noFill/>
          <a:ln/>
        </p:spPr>
        <p:txBody>
          <a:bodyPr wrap="square" lIns="0" tIns="0" rIns="0" bIns="0" rtlCol="0" anchor="ctr"/>
          <a:lstStyle/>
          <a:p>
            <a:pPr algn="ctr" indent="0" marL="0">
              <a:buNone/>
            </a:pPr>
            <a:r>
              <a:rPr lang="en-US" sz="1800" b="1" dirty="0">
                <a:solidFill>
                  <a:schemeClr val="tx1"/>
                </a:solidFill>
              </a:rPr>
              <a:t>Long answers next</a:t>
            </a:r>
            <a:endParaRPr lang="en-US" sz="1800" dirty="0"/>
          </a:p>
        </p:txBody>
      </p:sp>
      <p:sp>
        <p:nvSpPr>
          <p:cNvPr id="19" name="step text 3"/>
          <p:cNvSpPr txBox="1"/>
          <p:nvPr/>
        </p:nvSpPr>
        <p:spPr>
          <a:xfrm>
            <a:off x="5221224" y="3840480"/>
            <a:ext cx="1719072" cy="1005840"/>
          </a:xfrm>
          <a:prstGeom prst="rect">
            <a:avLst/>
          </a:prstGeom>
          <a:noFill/>
          <a:ln/>
        </p:spPr>
        <p:txBody>
          <a:bodyPr wrap="square" lIns="0" tIns="0" rIns="0" bIns="0" rtlCol="0" anchor="t"/>
          <a:lstStyle/>
          <a:p>
            <a:pPr algn="ctr" indent="0" marL="0">
              <a:buNone/>
            </a:pPr>
            <a:r>
              <a:rPr lang="en-US" sz="1500" dirty="0">
                <a:solidFill>
                  <a:schemeClr val="tx2"/>
                </a:solidFill>
              </a:rPr>
              <a:t>Write your best 5-mark answers while fresh</a:t>
            </a:r>
            <a:endParaRPr lang="en-US" sz="1500" dirty="0"/>
          </a:p>
        </p:txBody>
      </p:sp>
      <p:sp>
        <p:nvSpPr>
          <p:cNvPr id="20" name="arrow 3"/>
          <p:cNvSpPr/>
          <p:nvPr/>
        </p:nvSpPr>
        <p:spPr>
          <a:xfrm>
            <a:off x="7123176" y="3291840"/>
            <a:ext cx="182880" cy="365760"/>
          </a:xfrm>
          <a:prstGeom prst="rightArrow">
            <a:avLst/>
          </a:prstGeom>
          <a:solidFill>
            <a:srgbClr val="B7C9C6"/>
          </a:solidFill>
          <a:ln/>
        </p:spPr>
      </p:sp>
      <p:sp>
        <p:nvSpPr>
          <p:cNvPr id="21" name="step card 4"/>
          <p:cNvSpPr/>
          <p:nvPr/>
        </p:nvSpPr>
        <p:spPr>
          <a:xfrm>
            <a:off x="7351776" y="1828800"/>
            <a:ext cx="1993392" cy="3291840"/>
          </a:xfrm>
          <a:prstGeom prst="roundRect">
            <a:avLst>
              <a:gd name="adj" fmla="val 5505"/>
            </a:avLst>
          </a:prstGeom>
          <a:solidFill>
            <a:srgbClr val="E8F3F1"/>
          </a:solidFill>
          <a:ln/>
        </p:spPr>
      </p:sp>
      <p:sp>
        <p:nvSpPr>
          <p:cNvPr id="22" name="step badge 4"/>
          <p:cNvSpPr/>
          <p:nvPr/>
        </p:nvSpPr>
        <p:spPr>
          <a:xfrm>
            <a:off x="7982712" y="2148840"/>
            <a:ext cx="731520" cy="731520"/>
          </a:xfrm>
          <a:prstGeom prst="ellipse">
            <a:avLst/>
          </a:prstGeom>
          <a:solidFill>
            <a:srgbClr val="0B8F80"/>
          </a:solidFill>
          <a:ln/>
        </p:spPr>
      </p:sp>
      <p:sp>
        <p:nvSpPr>
          <p:cNvPr id="23" name="step number 4"/>
          <p:cNvSpPr txBox="1"/>
          <p:nvPr/>
        </p:nvSpPr>
        <p:spPr>
          <a:xfrm>
            <a:off x="7982712" y="2148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24" name="step title 4"/>
          <p:cNvSpPr txBox="1"/>
          <p:nvPr/>
        </p:nvSpPr>
        <p:spPr>
          <a:xfrm>
            <a:off x="7488936" y="3108960"/>
            <a:ext cx="1719072" cy="685800"/>
          </a:xfrm>
          <a:prstGeom prst="rect">
            <a:avLst/>
          </a:prstGeom>
          <a:noFill/>
          <a:ln/>
        </p:spPr>
        <p:txBody>
          <a:bodyPr wrap="square" lIns="0" tIns="0" rIns="0" bIns="0" rtlCol="0" anchor="ctr"/>
          <a:lstStyle/>
          <a:p>
            <a:pPr algn="ctr" indent="0" marL="0">
              <a:buNone/>
            </a:pPr>
            <a:r>
              <a:rPr lang="en-US" sz="1800" b="1" dirty="0">
                <a:solidFill>
                  <a:schemeClr val="tx1"/>
                </a:solidFill>
              </a:rPr>
              <a:t>Short answers</a:t>
            </a:r>
            <a:endParaRPr lang="en-US" sz="1800" dirty="0"/>
          </a:p>
        </p:txBody>
      </p:sp>
      <p:sp>
        <p:nvSpPr>
          <p:cNvPr id="25" name="step text 4"/>
          <p:cNvSpPr txBox="1"/>
          <p:nvPr/>
        </p:nvSpPr>
        <p:spPr>
          <a:xfrm>
            <a:off x="7488936" y="3840480"/>
            <a:ext cx="1719072" cy="1005840"/>
          </a:xfrm>
          <a:prstGeom prst="rect">
            <a:avLst/>
          </a:prstGeom>
          <a:noFill/>
          <a:ln/>
        </p:spPr>
        <p:txBody>
          <a:bodyPr wrap="square" lIns="0" tIns="0" rIns="0" bIns="0" rtlCol="0" anchor="t"/>
          <a:lstStyle/>
          <a:p>
            <a:pPr algn="ctr" indent="0" marL="0">
              <a:buNone/>
            </a:pPr>
            <a:r>
              <a:rPr lang="en-US" sz="1500" dirty="0">
                <a:solidFill>
                  <a:schemeClr val="tx2"/>
                </a:solidFill>
              </a:rPr>
              <a:t>Complete Parts B &amp; C point by point</a:t>
            </a:r>
            <a:endParaRPr lang="en-US" sz="1500" dirty="0"/>
          </a:p>
        </p:txBody>
      </p:sp>
      <p:sp>
        <p:nvSpPr>
          <p:cNvPr id="26" name="arrow 4"/>
          <p:cNvSpPr/>
          <p:nvPr/>
        </p:nvSpPr>
        <p:spPr>
          <a:xfrm>
            <a:off x="9390888" y="3291840"/>
            <a:ext cx="182880" cy="365760"/>
          </a:xfrm>
          <a:prstGeom prst="rightArrow">
            <a:avLst/>
          </a:prstGeom>
          <a:solidFill>
            <a:srgbClr val="B7C9C6"/>
          </a:solidFill>
          <a:ln/>
        </p:spPr>
      </p:sp>
      <p:sp>
        <p:nvSpPr>
          <p:cNvPr id="27" name="step card 5"/>
          <p:cNvSpPr/>
          <p:nvPr/>
        </p:nvSpPr>
        <p:spPr>
          <a:xfrm>
            <a:off x="9619488" y="1828800"/>
            <a:ext cx="1993392" cy="3291840"/>
          </a:xfrm>
          <a:prstGeom prst="roundRect">
            <a:avLst>
              <a:gd name="adj" fmla="val 5505"/>
            </a:avLst>
          </a:prstGeom>
          <a:solidFill>
            <a:srgbClr val="FBF1D5"/>
          </a:solidFill>
          <a:ln/>
        </p:spPr>
      </p:sp>
      <p:sp>
        <p:nvSpPr>
          <p:cNvPr id="28" name="step badge 5"/>
          <p:cNvSpPr/>
          <p:nvPr/>
        </p:nvSpPr>
        <p:spPr>
          <a:xfrm>
            <a:off x="10250424" y="2148840"/>
            <a:ext cx="731520" cy="731520"/>
          </a:xfrm>
          <a:prstGeom prst="ellipse">
            <a:avLst/>
          </a:prstGeom>
          <a:solidFill>
            <a:srgbClr val="C99A1E"/>
          </a:solidFill>
          <a:ln/>
        </p:spPr>
      </p:sp>
      <p:sp>
        <p:nvSpPr>
          <p:cNvPr id="29" name="step number 5"/>
          <p:cNvSpPr txBox="1"/>
          <p:nvPr/>
        </p:nvSpPr>
        <p:spPr>
          <a:xfrm>
            <a:off x="10250424" y="214884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30" name="step title 5"/>
          <p:cNvSpPr txBox="1"/>
          <p:nvPr/>
        </p:nvSpPr>
        <p:spPr>
          <a:xfrm>
            <a:off x="9756648" y="3108960"/>
            <a:ext cx="1719072" cy="685800"/>
          </a:xfrm>
          <a:prstGeom prst="rect">
            <a:avLst/>
          </a:prstGeom>
          <a:noFill/>
          <a:ln/>
        </p:spPr>
        <p:txBody>
          <a:bodyPr wrap="square" lIns="0" tIns="0" rIns="0" bIns="0" rtlCol="0" anchor="ctr"/>
          <a:lstStyle/>
          <a:p>
            <a:pPr algn="ctr" indent="0" marL="0">
              <a:buNone/>
            </a:pPr>
            <a:r>
              <a:rPr lang="en-US" sz="1800" b="1" dirty="0">
                <a:solidFill>
                  <a:schemeClr val="tx1"/>
                </a:solidFill>
              </a:rPr>
              <a:t>Last 10 minutes</a:t>
            </a:r>
            <a:endParaRPr lang="en-US" sz="1800" dirty="0"/>
          </a:p>
        </p:txBody>
      </p:sp>
      <p:sp>
        <p:nvSpPr>
          <p:cNvPr id="31" name="step text 5"/>
          <p:cNvSpPr txBox="1"/>
          <p:nvPr/>
        </p:nvSpPr>
        <p:spPr>
          <a:xfrm>
            <a:off x="9756648" y="3840480"/>
            <a:ext cx="1719072" cy="1005840"/>
          </a:xfrm>
          <a:prstGeom prst="rect">
            <a:avLst/>
          </a:prstGeom>
          <a:noFill/>
          <a:ln/>
        </p:spPr>
        <p:txBody>
          <a:bodyPr wrap="square" lIns="0" tIns="0" rIns="0" bIns="0" rtlCol="0" anchor="t"/>
          <a:lstStyle/>
          <a:p>
            <a:pPr algn="ctr" indent="0" marL="0">
              <a:buNone/>
            </a:pPr>
            <a:r>
              <a:rPr lang="en-US" sz="1500" dirty="0">
                <a:solidFill>
                  <a:schemeClr val="tx2"/>
                </a:solidFill>
              </a:rPr>
              <a:t>Check numbers, labels and blanks</a:t>
            </a:r>
            <a:endParaRPr lang="en-US" sz="1500" dirty="0"/>
          </a:p>
        </p:txBody>
      </p:sp>
      <p:pic>
        <p:nvPicPr>
          <p:cNvPr id="32" name="clock icon" descr="preencoded.png">    </p:cNvPr>
          <p:cNvPicPr>
            <a:picLocks noChangeAspect="1"/>
          </p:cNvPicPr>
          <p:nvPr/>
        </p:nvPicPr>
        <p:blipFill>
          <a:blip r:embed="rId1"/>
          <a:stretch>
            <a:fillRect/>
          </a:stretch>
        </p:blipFill>
        <p:spPr>
          <a:xfrm>
            <a:off x="548640" y="5532120"/>
            <a:ext cx="320040" cy="320040"/>
          </a:xfrm>
          <a:prstGeom prst="rect">
            <a:avLst/>
          </a:prstGeom>
        </p:spPr>
      </p:pic>
      <p:sp>
        <p:nvSpPr>
          <p:cNvPr id="33" name="hall note"/>
          <p:cNvSpPr txBox="1"/>
          <p:nvPr/>
        </p:nvSpPr>
        <p:spPr>
          <a:xfrm>
            <a:off x="1005840" y="5486400"/>
            <a:ext cx="10515600" cy="411480"/>
          </a:xfrm>
          <a:prstGeom prst="rect">
            <a:avLst/>
          </a:prstGeom>
          <a:noFill/>
          <a:ln/>
        </p:spPr>
        <p:txBody>
          <a:bodyPr wrap="square" lIns="0" tIns="0" rIns="0" bIns="0" rtlCol="0" anchor="ctr"/>
          <a:lstStyle/>
          <a:p>
            <a:pPr indent="0" marL="0">
              <a:buNone/>
            </a:pPr>
            <a:r>
              <a:rPr lang="en-US" sz="1500" dirty="0">
                <a:solidFill>
                  <a:schemeClr val="tx2"/>
                </a:solidFill>
              </a:rPr>
              <a:t>Leave one blank line between answers and write question numbers clearly in the margin.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400" b="1" dirty="0">
                <a:solidFill>
                  <a:schemeClr val="tx1"/>
                </a:solidFill>
              </a:rPr>
              <a:t>A 7-day revision plan</a:t>
            </a:r>
            <a:endParaRPr lang="en-US" sz="3400" dirty="0"/>
          </a:p>
        </p:txBody>
      </p:sp>
      <p:sp>
        <p:nvSpPr>
          <p:cNvPr id="3" name="day card 1"/>
          <p:cNvSpPr/>
          <p:nvPr/>
        </p:nvSpPr>
        <p:spPr>
          <a:xfrm>
            <a:off x="548640" y="1417320"/>
            <a:ext cx="1463040" cy="4663440"/>
          </a:xfrm>
          <a:prstGeom prst="roundRect">
            <a:avLst>
              <a:gd name="adj" fmla="val 7500"/>
            </a:avLst>
          </a:prstGeom>
          <a:solidFill>
            <a:srgbClr val="E8F3F1"/>
          </a:solidFill>
          <a:ln/>
        </p:spPr>
      </p:sp>
      <p:sp>
        <p:nvSpPr>
          <p:cNvPr id="4" name="day label 1"/>
          <p:cNvSpPr txBox="1"/>
          <p:nvPr/>
        </p:nvSpPr>
        <p:spPr>
          <a:xfrm>
            <a:off x="5486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5" name="day number 1"/>
          <p:cNvSpPr txBox="1"/>
          <p:nvPr/>
        </p:nvSpPr>
        <p:spPr>
          <a:xfrm>
            <a:off x="5486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1</a:t>
            </a:r>
            <a:endParaRPr lang="en-US" sz="4800" dirty="0"/>
          </a:p>
        </p:txBody>
      </p:sp>
      <p:sp>
        <p:nvSpPr>
          <p:cNvPr id="6" name="day topic 1"/>
          <p:cNvSpPr txBox="1"/>
          <p:nvPr/>
        </p:nvSpPr>
        <p:spPr>
          <a:xfrm>
            <a:off x="6583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Cell: The Unit of Life</a:t>
            </a:r>
            <a:endParaRPr lang="en-US" sz="1500" dirty="0"/>
          </a:p>
        </p:txBody>
      </p:sp>
      <p:sp>
        <p:nvSpPr>
          <p:cNvPr id="7" name="day detail 1"/>
          <p:cNvSpPr txBox="1"/>
          <p:nvPr/>
        </p:nvSpPr>
        <p:spPr>
          <a:xfrm>
            <a:off x="6583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Organelles, membrane, nucleus</a:t>
            </a:r>
            <a:endParaRPr lang="en-US" sz="1300" dirty="0"/>
          </a:p>
        </p:txBody>
      </p:sp>
      <p:sp>
        <p:nvSpPr>
          <p:cNvPr id="8" name="day card 2"/>
          <p:cNvSpPr/>
          <p:nvPr/>
        </p:nvSpPr>
        <p:spPr>
          <a:xfrm>
            <a:off x="2148840" y="1417320"/>
            <a:ext cx="1463040" cy="4663440"/>
          </a:xfrm>
          <a:prstGeom prst="roundRect">
            <a:avLst>
              <a:gd name="adj" fmla="val 7500"/>
            </a:avLst>
          </a:prstGeom>
          <a:solidFill>
            <a:srgbClr val="E8F3F1"/>
          </a:solidFill>
          <a:ln/>
        </p:spPr>
      </p:sp>
      <p:sp>
        <p:nvSpPr>
          <p:cNvPr id="9" name="day label 2"/>
          <p:cNvSpPr txBox="1"/>
          <p:nvPr/>
        </p:nvSpPr>
        <p:spPr>
          <a:xfrm>
            <a:off x="21488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10" name="day number 2"/>
          <p:cNvSpPr txBox="1"/>
          <p:nvPr/>
        </p:nvSpPr>
        <p:spPr>
          <a:xfrm>
            <a:off x="21488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2</a:t>
            </a:r>
            <a:endParaRPr lang="en-US" sz="4800" dirty="0"/>
          </a:p>
        </p:txBody>
      </p:sp>
      <p:sp>
        <p:nvSpPr>
          <p:cNvPr id="11" name="day topic 2"/>
          <p:cNvSpPr txBox="1"/>
          <p:nvPr/>
        </p:nvSpPr>
        <p:spPr>
          <a:xfrm>
            <a:off x="22585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Cell diagrams + Biomolecules</a:t>
            </a:r>
            <a:endParaRPr lang="en-US" sz="1500" dirty="0"/>
          </a:p>
        </p:txBody>
      </p:sp>
      <p:sp>
        <p:nvSpPr>
          <p:cNvPr id="12" name="day detail 2"/>
          <p:cNvSpPr txBox="1"/>
          <p:nvPr/>
        </p:nvSpPr>
        <p:spPr>
          <a:xfrm>
            <a:off x="22585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Plant cell, mitochondrion, enzymes</a:t>
            </a:r>
            <a:endParaRPr lang="en-US" sz="1300" dirty="0"/>
          </a:p>
        </p:txBody>
      </p:sp>
      <p:sp>
        <p:nvSpPr>
          <p:cNvPr id="13" name="day card 3"/>
          <p:cNvSpPr/>
          <p:nvPr/>
        </p:nvSpPr>
        <p:spPr>
          <a:xfrm>
            <a:off x="3749040" y="1417320"/>
            <a:ext cx="1463040" cy="4663440"/>
          </a:xfrm>
          <a:prstGeom prst="roundRect">
            <a:avLst>
              <a:gd name="adj" fmla="val 7500"/>
            </a:avLst>
          </a:prstGeom>
          <a:solidFill>
            <a:srgbClr val="E8F3F1"/>
          </a:solidFill>
          <a:ln/>
        </p:spPr>
      </p:sp>
      <p:sp>
        <p:nvSpPr>
          <p:cNvPr id="14" name="day label 3"/>
          <p:cNvSpPr txBox="1"/>
          <p:nvPr/>
        </p:nvSpPr>
        <p:spPr>
          <a:xfrm>
            <a:off x="37490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15" name="day number 3"/>
          <p:cNvSpPr txBox="1"/>
          <p:nvPr/>
        </p:nvSpPr>
        <p:spPr>
          <a:xfrm>
            <a:off x="37490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3</a:t>
            </a:r>
            <a:endParaRPr lang="en-US" sz="4800" dirty="0"/>
          </a:p>
        </p:txBody>
      </p:sp>
      <p:sp>
        <p:nvSpPr>
          <p:cNvPr id="16" name="day topic 3"/>
          <p:cNvSpPr txBox="1"/>
          <p:nvPr/>
        </p:nvSpPr>
        <p:spPr>
          <a:xfrm>
            <a:off x="38587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Cell Cycle &amp; Division</a:t>
            </a:r>
            <a:endParaRPr lang="en-US" sz="1500" dirty="0"/>
          </a:p>
        </p:txBody>
      </p:sp>
      <p:sp>
        <p:nvSpPr>
          <p:cNvPr id="17" name="day detail 3"/>
          <p:cNvSpPr txBox="1"/>
          <p:nvPr/>
        </p:nvSpPr>
        <p:spPr>
          <a:xfrm>
            <a:off x="38587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Phases, mitosis, meiosis</a:t>
            </a:r>
            <a:endParaRPr lang="en-US" sz="1300" dirty="0"/>
          </a:p>
        </p:txBody>
      </p:sp>
      <p:sp>
        <p:nvSpPr>
          <p:cNvPr id="18" name="day card 4"/>
          <p:cNvSpPr/>
          <p:nvPr/>
        </p:nvSpPr>
        <p:spPr>
          <a:xfrm>
            <a:off x="5349240" y="1417320"/>
            <a:ext cx="1463040" cy="4663440"/>
          </a:xfrm>
          <a:prstGeom prst="roundRect">
            <a:avLst>
              <a:gd name="adj" fmla="val 7500"/>
            </a:avLst>
          </a:prstGeom>
          <a:solidFill>
            <a:srgbClr val="E8F3F1"/>
          </a:solidFill>
          <a:ln/>
        </p:spPr>
      </p:sp>
      <p:sp>
        <p:nvSpPr>
          <p:cNvPr id="19" name="day label 4"/>
          <p:cNvSpPr txBox="1"/>
          <p:nvPr/>
        </p:nvSpPr>
        <p:spPr>
          <a:xfrm>
            <a:off x="53492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20" name="day number 4"/>
          <p:cNvSpPr txBox="1"/>
          <p:nvPr/>
        </p:nvSpPr>
        <p:spPr>
          <a:xfrm>
            <a:off x="53492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4</a:t>
            </a:r>
            <a:endParaRPr lang="en-US" sz="4800" dirty="0"/>
          </a:p>
        </p:txBody>
      </p:sp>
      <p:sp>
        <p:nvSpPr>
          <p:cNvPr id="21" name="day topic 4"/>
          <p:cNvSpPr txBox="1"/>
          <p:nvPr/>
        </p:nvSpPr>
        <p:spPr>
          <a:xfrm>
            <a:off x="54589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Animal Kingdom + Frog</a:t>
            </a:r>
            <a:endParaRPr lang="en-US" sz="1500" dirty="0"/>
          </a:p>
        </p:txBody>
      </p:sp>
      <p:sp>
        <p:nvSpPr>
          <p:cNvPr id="22" name="day detail 4"/>
          <p:cNvSpPr txBox="1"/>
          <p:nvPr/>
        </p:nvSpPr>
        <p:spPr>
          <a:xfrm>
            <a:off x="54589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Phyla, examples, frog (Ch 7)</a:t>
            </a:r>
            <a:endParaRPr lang="en-US" sz="1300" dirty="0"/>
          </a:p>
        </p:txBody>
      </p:sp>
      <p:sp>
        <p:nvSpPr>
          <p:cNvPr id="23" name="day card 5"/>
          <p:cNvSpPr/>
          <p:nvPr/>
        </p:nvSpPr>
        <p:spPr>
          <a:xfrm>
            <a:off x="6949440" y="1417320"/>
            <a:ext cx="1463040" cy="4663440"/>
          </a:xfrm>
          <a:prstGeom prst="roundRect">
            <a:avLst>
              <a:gd name="adj" fmla="val 7500"/>
            </a:avLst>
          </a:prstGeom>
          <a:solidFill>
            <a:srgbClr val="E8F3F1"/>
          </a:solidFill>
          <a:ln/>
        </p:spPr>
      </p:sp>
      <p:sp>
        <p:nvSpPr>
          <p:cNvPr id="24" name="day label 5"/>
          <p:cNvSpPr txBox="1"/>
          <p:nvPr/>
        </p:nvSpPr>
        <p:spPr>
          <a:xfrm>
            <a:off x="69494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25" name="day number 5"/>
          <p:cNvSpPr txBox="1"/>
          <p:nvPr/>
        </p:nvSpPr>
        <p:spPr>
          <a:xfrm>
            <a:off x="69494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5</a:t>
            </a:r>
            <a:endParaRPr lang="en-US" sz="4800" dirty="0"/>
          </a:p>
        </p:txBody>
      </p:sp>
      <p:sp>
        <p:nvSpPr>
          <p:cNvPr id="26" name="day topic 5"/>
          <p:cNvSpPr txBox="1"/>
          <p:nvPr/>
        </p:nvSpPr>
        <p:spPr>
          <a:xfrm>
            <a:off x="70591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Living World, Classification, Plant Kingdom</a:t>
            </a:r>
            <a:endParaRPr lang="en-US" sz="1500" dirty="0"/>
          </a:p>
        </p:txBody>
      </p:sp>
      <p:sp>
        <p:nvSpPr>
          <p:cNvPr id="27" name="day detail 5"/>
          <p:cNvSpPr txBox="1"/>
          <p:nvPr/>
        </p:nvSpPr>
        <p:spPr>
          <a:xfrm>
            <a:off x="70591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Names, kingdoms, algae table</a:t>
            </a:r>
            <a:endParaRPr lang="en-US" sz="1300" dirty="0"/>
          </a:p>
        </p:txBody>
      </p:sp>
      <p:sp>
        <p:nvSpPr>
          <p:cNvPr id="28" name="day card 6"/>
          <p:cNvSpPr/>
          <p:nvPr/>
        </p:nvSpPr>
        <p:spPr>
          <a:xfrm>
            <a:off x="8549640" y="1417320"/>
            <a:ext cx="1463040" cy="4663440"/>
          </a:xfrm>
          <a:prstGeom prst="roundRect">
            <a:avLst>
              <a:gd name="adj" fmla="val 7500"/>
            </a:avLst>
          </a:prstGeom>
          <a:solidFill>
            <a:srgbClr val="E8F3F1"/>
          </a:solidFill>
          <a:ln/>
        </p:spPr>
      </p:sp>
      <p:sp>
        <p:nvSpPr>
          <p:cNvPr id="29" name="day label 6"/>
          <p:cNvSpPr txBox="1"/>
          <p:nvPr/>
        </p:nvSpPr>
        <p:spPr>
          <a:xfrm>
            <a:off x="8549640" y="1691640"/>
            <a:ext cx="1463040" cy="274320"/>
          </a:xfrm>
          <a:prstGeom prst="rect">
            <a:avLst/>
          </a:prstGeom>
          <a:noFill/>
          <a:ln/>
        </p:spPr>
        <p:txBody>
          <a:bodyPr wrap="square" lIns="0" tIns="0" rIns="0" bIns="0" rtlCol="0" anchor="ctr"/>
          <a:lstStyle/>
          <a:p>
            <a:pPr algn="ctr" indent="0" marL="0">
              <a:buNone/>
            </a:pPr>
            <a:r>
              <a:rPr lang="en-US" sz="1200" b="1" spc="200" kern="0" dirty="0">
                <a:solidFill>
                  <a:schemeClr val="accent1"/>
                </a:solidFill>
              </a:rPr>
              <a:t>DAY</a:t>
            </a:r>
            <a:endParaRPr lang="en-US" sz="1200" dirty="0"/>
          </a:p>
        </p:txBody>
      </p:sp>
      <p:sp>
        <p:nvSpPr>
          <p:cNvPr id="30" name="day number 6"/>
          <p:cNvSpPr txBox="1"/>
          <p:nvPr/>
        </p:nvSpPr>
        <p:spPr>
          <a:xfrm>
            <a:off x="8549640" y="1965960"/>
            <a:ext cx="1463040" cy="822960"/>
          </a:xfrm>
          <a:prstGeom prst="rect">
            <a:avLst/>
          </a:prstGeom>
          <a:noFill/>
          <a:ln/>
        </p:spPr>
        <p:txBody>
          <a:bodyPr wrap="square" lIns="0" tIns="0" rIns="0" bIns="0" rtlCol="0" anchor="ctr"/>
          <a:lstStyle/>
          <a:p>
            <a:pPr algn="ctr" indent="0" marL="0">
              <a:buNone/>
            </a:pPr>
            <a:r>
              <a:rPr lang="en-US" sz="4800" b="1" dirty="0">
                <a:solidFill>
                  <a:schemeClr val="tx1"/>
                </a:solidFill>
                <a:latin typeface="Cambria" pitchFamily="34" charset="0"/>
                <a:ea typeface="Cambria" pitchFamily="34" charset="-122"/>
                <a:cs typeface="Cambria" pitchFamily="34" charset="-120"/>
              </a:rPr>
              <a:t>6</a:t>
            </a:r>
            <a:endParaRPr lang="en-US" sz="4800" dirty="0"/>
          </a:p>
        </p:txBody>
      </p:sp>
      <p:sp>
        <p:nvSpPr>
          <p:cNvPr id="31" name="day topic 6"/>
          <p:cNvSpPr txBox="1"/>
          <p:nvPr/>
        </p:nvSpPr>
        <p:spPr>
          <a:xfrm>
            <a:off x="8659368" y="2971800"/>
            <a:ext cx="1243584" cy="1463040"/>
          </a:xfrm>
          <a:prstGeom prst="rect">
            <a:avLst/>
          </a:prstGeom>
          <a:noFill/>
          <a:ln/>
        </p:spPr>
        <p:txBody>
          <a:bodyPr wrap="square" lIns="0" tIns="0" rIns="0" bIns="0" rtlCol="0" anchor="t"/>
          <a:lstStyle/>
          <a:p>
            <a:pPr algn="ctr" indent="0" marL="0">
              <a:buNone/>
            </a:pPr>
            <a:r>
              <a:rPr lang="en-US" sz="1500" b="1" dirty="0">
                <a:solidFill>
                  <a:schemeClr val="tx1"/>
                </a:solidFill>
              </a:rPr>
              <a:t>Morphology &amp; Anatomy</a:t>
            </a:r>
            <a:endParaRPr lang="en-US" sz="1500" dirty="0"/>
          </a:p>
        </p:txBody>
      </p:sp>
      <p:sp>
        <p:nvSpPr>
          <p:cNvPr id="32" name="day detail 6"/>
          <p:cNvSpPr txBox="1"/>
          <p:nvPr/>
        </p:nvSpPr>
        <p:spPr>
          <a:xfrm>
            <a:off x="8659368" y="4206240"/>
            <a:ext cx="1243584" cy="1371600"/>
          </a:xfrm>
          <a:prstGeom prst="rect">
            <a:avLst/>
          </a:prstGeom>
          <a:noFill/>
          <a:ln/>
        </p:spPr>
        <p:txBody>
          <a:bodyPr wrap="square" lIns="0" tIns="0" rIns="0" bIns="0" rtlCol="0" anchor="t"/>
          <a:lstStyle/>
          <a:p>
            <a:pPr algn="ctr" indent="0" marL="0">
              <a:buNone/>
            </a:pPr>
            <a:r>
              <a:rPr lang="en-US" sz="1300" dirty="0">
                <a:solidFill>
                  <a:schemeClr val="tx2"/>
                </a:solidFill>
              </a:rPr>
              <a:t>Placentation, leaf, tissues</a:t>
            </a:r>
            <a:endParaRPr lang="en-US" sz="1300" dirty="0"/>
          </a:p>
        </p:txBody>
      </p:sp>
      <p:sp>
        <p:nvSpPr>
          <p:cNvPr id="33" name="day card 7"/>
          <p:cNvSpPr/>
          <p:nvPr/>
        </p:nvSpPr>
        <p:spPr>
          <a:xfrm>
            <a:off x="10149840" y="1417320"/>
            <a:ext cx="1463040" cy="4663440"/>
          </a:xfrm>
          <a:prstGeom prst="roundRect">
            <a:avLst>
              <a:gd name="adj" fmla="val 7500"/>
            </a:avLst>
          </a:prstGeom>
          <a:solidFill>
            <a:srgbClr val="0C1830"/>
          </a:solidFill>
          <a:ln/>
        </p:spPr>
      </p:sp>
      <p:sp>
        <p:nvSpPr>
          <p:cNvPr id="34" name="day label 7"/>
          <p:cNvSpPr txBox="1"/>
          <p:nvPr/>
        </p:nvSpPr>
        <p:spPr>
          <a:xfrm>
            <a:off x="10149840" y="1691640"/>
            <a:ext cx="1463040" cy="274320"/>
          </a:xfrm>
          <a:prstGeom prst="rect">
            <a:avLst/>
          </a:prstGeom>
          <a:noFill/>
          <a:ln/>
        </p:spPr>
        <p:txBody>
          <a:bodyPr wrap="square" lIns="0" tIns="0" rIns="0" bIns="0" rtlCol="0" anchor="ctr"/>
          <a:lstStyle/>
          <a:p>
            <a:pPr algn="ctr" indent="0" marL="0">
              <a:buNone/>
            </a:pPr>
            <a:r>
              <a:rPr lang="en-US" sz="1200" b="1" spc="200" kern="0" dirty="0">
                <a:solidFill>
                  <a:srgbClr val="F2D27A"/>
                </a:solidFill>
              </a:rPr>
              <a:t>DAY</a:t>
            </a:r>
            <a:endParaRPr lang="en-US" sz="1200" dirty="0"/>
          </a:p>
        </p:txBody>
      </p:sp>
      <p:sp>
        <p:nvSpPr>
          <p:cNvPr id="35" name="day number 7"/>
          <p:cNvSpPr txBox="1"/>
          <p:nvPr/>
        </p:nvSpPr>
        <p:spPr>
          <a:xfrm>
            <a:off x="10149840" y="1965960"/>
            <a:ext cx="1463040" cy="82296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7</a:t>
            </a:r>
            <a:endParaRPr lang="en-US" sz="4800" dirty="0"/>
          </a:p>
        </p:txBody>
      </p:sp>
      <p:sp>
        <p:nvSpPr>
          <p:cNvPr id="36" name="day topic 7"/>
          <p:cNvSpPr txBox="1"/>
          <p:nvPr/>
        </p:nvSpPr>
        <p:spPr>
          <a:xfrm>
            <a:off x="10259568" y="2971800"/>
            <a:ext cx="1243584" cy="1463040"/>
          </a:xfrm>
          <a:prstGeom prst="rect">
            <a:avLst/>
          </a:prstGeom>
          <a:noFill/>
          <a:ln/>
        </p:spPr>
        <p:txBody>
          <a:bodyPr wrap="square" lIns="0" tIns="0" rIns="0" bIns="0" rtlCol="0" anchor="t"/>
          <a:lstStyle/>
          <a:p>
            <a:pPr algn="ctr" indent="0" marL="0">
              <a:buNone/>
            </a:pPr>
            <a:r>
              <a:rPr lang="en-US" sz="1500" b="1" dirty="0">
                <a:solidFill>
                  <a:srgbClr val="FFFFFF"/>
                </a:solidFill>
              </a:rPr>
              <a:t>Mock test</a:t>
            </a:r>
            <a:endParaRPr lang="en-US" sz="1500" dirty="0"/>
          </a:p>
        </p:txBody>
      </p:sp>
      <p:sp>
        <p:nvSpPr>
          <p:cNvPr id="37" name="day detail 7"/>
          <p:cNvSpPr txBox="1"/>
          <p:nvPr/>
        </p:nvSpPr>
        <p:spPr>
          <a:xfrm>
            <a:off x="10259568" y="4206240"/>
            <a:ext cx="1243584" cy="1371600"/>
          </a:xfrm>
          <a:prstGeom prst="rect">
            <a:avLst/>
          </a:prstGeom>
          <a:noFill/>
          <a:ln/>
        </p:spPr>
        <p:txBody>
          <a:bodyPr wrap="square" lIns="0" tIns="0" rIns="0" bIns="0" rtlCol="0" anchor="t"/>
          <a:lstStyle/>
          <a:p>
            <a:pPr algn="ctr" indent="0" marL="0">
              <a:buNone/>
            </a:pPr>
            <a:r>
              <a:rPr lang="en-US" sz="1300" dirty="0">
                <a:solidFill>
                  <a:srgbClr val="DCE4F0"/>
                </a:solidFill>
              </a:rPr>
              <a:t>Full paper in exam time + redraw all 4 diagrams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2057400"/>
            <a:ext cx="7863840" cy="1737360"/>
          </a:xfrm>
          <a:prstGeom prst="rect">
            <a:avLst/>
          </a:prstGeom>
          <a:noFill/>
          <a:ln/>
        </p:spPr>
        <p:txBody>
          <a:bodyPr wrap="square" lIns="0" tIns="0" rIns="0" bIns="0" rtlCol="0" anchor="t"/>
          <a:lstStyle/>
          <a:p>
            <a:pPr algn="l" indent="0" marL="0">
              <a:buNone/>
            </a:pPr>
            <a:r>
              <a:rPr lang="en-US" sz="4400" b="1" dirty="0">
                <a:solidFill>
                  <a:schemeClr val="bg1"/>
                </a:solidFill>
              </a:rPr>
              <a:t>All the best for your exam!</a:t>
            </a:r>
            <a:endParaRPr lang="en-US" sz="4400" dirty="0"/>
          </a:p>
        </p:txBody>
      </p:sp>
      <p:sp>
        <p:nvSpPr>
          <p:cNvPr id="3" name="take badge 1"/>
          <p:cNvSpPr/>
          <p:nvPr/>
        </p:nvSpPr>
        <p:spPr>
          <a:xfrm>
            <a:off x="731520" y="3246120"/>
            <a:ext cx="411480" cy="411480"/>
          </a:xfrm>
          <a:prstGeom prst="ellipse">
            <a:avLst/>
          </a:prstGeom>
          <a:solidFill>
            <a:srgbClr val="C99A1E"/>
          </a:solidFill>
          <a:ln/>
        </p:spPr>
      </p:sp>
      <p:pic>
        <p:nvPicPr>
          <p:cNvPr id="4" name="take icon 1" descr="preencoded.png">    </p:cNvPr>
          <p:cNvPicPr>
            <a:picLocks noChangeAspect="1"/>
          </p:cNvPicPr>
          <p:nvPr/>
        </p:nvPicPr>
        <p:blipFill>
          <a:blip r:embed="rId1"/>
          <a:stretch>
            <a:fillRect/>
          </a:stretch>
        </p:blipFill>
        <p:spPr>
          <a:xfrm>
            <a:off x="832104" y="3346704"/>
            <a:ext cx="210312" cy="210312"/>
          </a:xfrm>
          <a:prstGeom prst="rect">
            <a:avLst/>
          </a:prstGeom>
        </p:spPr>
      </p:pic>
      <p:sp>
        <p:nvSpPr>
          <p:cNvPr id="5" name="takeaway 1"/>
          <p:cNvSpPr txBox="1"/>
          <p:nvPr/>
        </p:nvSpPr>
        <p:spPr>
          <a:xfrm>
            <a:off x="1325880" y="3200400"/>
            <a:ext cx="6858000" cy="502920"/>
          </a:xfrm>
          <a:prstGeom prst="rect">
            <a:avLst/>
          </a:prstGeom>
          <a:noFill/>
          <a:ln/>
        </p:spPr>
        <p:txBody>
          <a:bodyPr wrap="square" lIns="0" tIns="0" rIns="0" bIns="0" rtlCol="0" anchor="ctr"/>
          <a:lstStyle/>
          <a:p>
            <a:pPr indent="0" marL="0">
              <a:buNone/>
            </a:pPr>
            <a:r>
              <a:rPr lang="en-US" sz="2000" dirty="0">
                <a:solidFill>
                  <a:srgbClr val="FFFFFF"/>
                </a:solidFill>
              </a:rPr>
              <a:t>Focus on the 4 high-mark chapters</a:t>
            </a:r>
            <a:endParaRPr lang="en-US" sz="2000" dirty="0"/>
          </a:p>
        </p:txBody>
      </p:sp>
      <p:sp>
        <p:nvSpPr>
          <p:cNvPr id="6" name="take badge 2"/>
          <p:cNvSpPr/>
          <p:nvPr/>
        </p:nvSpPr>
        <p:spPr>
          <a:xfrm>
            <a:off x="731520" y="3931920"/>
            <a:ext cx="411480" cy="411480"/>
          </a:xfrm>
          <a:prstGeom prst="ellipse">
            <a:avLst/>
          </a:prstGeom>
          <a:solidFill>
            <a:srgbClr val="C99A1E"/>
          </a:solidFill>
          <a:ln/>
        </p:spPr>
      </p:sp>
      <p:pic>
        <p:nvPicPr>
          <p:cNvPr id="7" name="take icon 2" descr="preencoded.png">    </p:cNvPr>
          <p:cNvPicPr>
            <a:picLocks noChangeAspect="1"/>
          </p:cNvPicPr>
          <p:nvPr/>
        </p:nvPicPr>
        <p:blipFill>
          <a:blip r:embed="rId2"/>
          <a:stretch>
            <a:fillRect/>
          </a:stretch>
        </p:blipFill>
        <p:spPr>
          <a:xfrm>
            <a:off x="832104" y="4032504"/>
            <a:ext cx="210312" cy="210312"/>
          </a:xfrm>
          <a:prstGeom prst="rect">
            <a:avLst/>
          </a:prstGeom>
        </p:spPr>
      </p:pic>
      <p:sp>
        <p:nvSpPr>
          <p:cNvPr id="8" name="takeaway 2"/>
          <p:cNvSpPr txBox="1"/>
          <p:nvPr/>
        </p:nvSpPr>
        <p:spPr>
          <a:xfrm>
            <a:off x="1325880" y="3886200"/>
            <a:ext cx="6858000" cy="502920"/>
          </a:xfrm>
          <a:prstGeom prst="rect">
            <a:avLst/>
          </a:prstGeom>
          <a:noFill/>
          <a:ln/>
        </p:spPr>
        <p:txBody>
          <a:bodyPr wrap="square" lIns="0" tIns="0" rIns="0" bIns="0" rtlCol="0" anchor="ctr"/>
          <a:lstStyle/>
          <a:p>
            <a:pPr indent="0" marL="0">
              <a:buNone/>
            </a:pPr>
            <a:r>
              <a:rPr lang="en-US" sz="2000" dirty="0">
                <a:solidFill>
                  <a:srgbClr val="FFFFFF"/>
                </a:solidFill>
              </a:rPr>
              <a:t>Practise the 4 diagrams with labels</a:t>
            </a:r>
            <a:endParaRPr lang="en-US" sz="2000" dirty="0"/>
          </a:p>
        </p:txBody>
      </p:sp>
      <p:sp>
        <p:nvSpPr>
          <p:cNvPr id="9" name="take badge 3"/>
          <p:cNvSpPr/>
          <p:nvPr/>
        </p:nvSpPr>
        <p:spPr>
          <a:xfrm>
            <a:off x="731520" y="4617720"/>
            <a:ext cx="411480" cy="411480"/>
          </a:xfrm>
          <a:prstGeom prst="ellipse">
            <a:avLst/>
          </a:prstGeom>
          <a:solidFill>
            <a:srgbClr val="C99A1E"/>
          </a:solidFill>
          <a:ln/>
        </p:spPr>
      </p:sp>
      <p:pic>
        <p:nvPicPr>
          <p:cNvPr id="10" name="take icon 3" descr="preencoded.png">    </p:cNvPr>
          <p:cNvPicPr>
            <a:picLocks noChangeAspect="1"/>
          </p:cNvPicPr>
          <p:nvPr/>
        </p:nvPicPr>
        <p:blipFill>
          <a:blip r:embed="rId3"/>
          <a:stretch>
            <a:fillRect/>
          </a:stretch>
        </p:blipFill>
        <p:spPr>
          <a:xfrm>
            <a:off x="832104" y="4718304"/>
            <a:ext cx="210312" cy="210312"/>
          </a:xfrm>
          <a:prstGeom prst="rect">
            <a:avLst/>
          </a:prstGeom>
        </p:spPr>
      </p:pic>
      <p:sp>
        <p:nvSpPr>
          <p:cNvPr id="11" name="takeaway 3"/>
          <p:cNvSpPr txBox="1"/>
          <p:nvPr/>
        </p:nvSpPr>
        <p:spPr>
          <a:xfrm>
            <a:off x="1325880" y="4572000"/>
            <a:ext cx="6858000" cy="502920"/>
          </a:xfrm>
          <a:prstGeom prst="rect">
            <a:avLst/>
          </a:prstGeom>
          <a:noFill/>
          <a:ln/>
        </p:spPr>
        <p:txBody>
          <a:bodyPr wrap="square" lIns="0" tIns="0" rIns="0" bIns="0" rtlCol="0" anchor="ctr"/>
          <a:lstStyle/>
          <a:p>
            <a:pPr indent="0" marL="0">
              <a:buNone/>
            </a:pPr>
            <a:r>
              <a:rPr lang="en-US" sz="2000" dirty="0">
                <a:solidFill>
                  <a:srgbClr val="FFFFFF"/>
                </a:solidFill>
              </a:rPr>
              <a:t>Write every answer point by point</a:t>
            </a:r>
            <a:endParaRPr lang="en-US" sz="2000" dirty="0"/>
          </a:p>
        </p:txBody>
      </p:sp>
      <p:sp>
        <p:nvSpPr>
          <p:cNvPr id="12" name="signoff"/>
          <p:cNvSpPr txBox="1"/>
          <p:nvPr/>
        </p:nvSpPr>
        <p:spPr>
          <a:xfrm>
            <a:off x="731520" y="5669280"/>
            <a:ext cx="7315200" cy="411480"/>
          </a:xfrm>
          <a:prstGeom prst="rect">
            <a:avLst/>
          </a:prstGeom>
          <a:noFill/>
          <a:ln/>
        </p:spPr>
        <p:txBody>
          <a:bodyPr wrap="square" lIns="0" tIns="0" rIns="0" bIns="0" rtlCol="0" anchor="ctr"/>
          <a:lstStyle/>
          <a:p>
            <a:pPr indent="0" marL="0">
              <a:buNone/>
            </a:pPr>
            <a:r>
              <a:rPr lang="en-US" sz="1600" b="1" dirty="0">
                <a:solidFill>
                  <a:schemeClr val="accent2"/>
                </a:solidFill>
              </a:rPr>
              <a:t>Narendra Sir  ·  BAIO Learning System</a:t>
            </a:r>
            <a:endParaRPr lang="en-US" sz="1600" dirty="0"/>
          </a:p>
        </p:txBody>
      </p:sp>
      <p:sp>
        <p:nvSpPr>
          <p:cNvPr id="13" name="trophy ring"/>
          <p:cNvSpPr/>
          <p:nvPr/>
        </p:nvSpPr>
        <p:spPr>
          <a:xfrm>
            <a:off x="9052560" y="2011680"/>
            <a:ext cx="2468880" cy="2468880"/>
          </a:xfrm>
          <a:prstGeom prst="ellipse">
            <a:avLst/>
          </a:prstGeom>
          <a:solidFill>
            <a:srgbClr val="16264A"/>
          </a:solidFill>
          <a:ln w="25400">
            <a:solidFill>
              <a:srgbClr val="C99A1E"/>
            </a:solidFill>
            <a:prstDash val="solid"/>
          </a:ln>
        </p:spPr>
      </p:sp>
      <p:pic>
        <p:nvPicPr>
          <p:cNvPr id="14" name="trophy icon" descr="preencoded.png">    </p:cNvPr>
          <p:cNvPicPr>
            <a:picLocks noChangeAspect="1"/>
          </p:cNvPicPr>
          <p:nvPr/>
        </p:nvPicPr>
        <p:blipFill>
          <a:blip r:embed="rId4"/>
          <a:stretch>
            <a:fillRect/>
          </a:stretch>
        </p:blipFill>
        <p:spPr>
          <a:xfrm>
            <a:off x="9646920" y="2606040"/>
            <a:ext cx="1280160" cy="1280160"/>
          </a:xfrm>
          <a:prstGeom prst="rect">
            <a:avLst/>
          </a:prstGeom>
        </p:spPr>
      </p:pic>
    </p:spTree>
  </p:cSld>
  <p:clrMapOvr>
    <a:masterClrMapping/>
  </p:clrMapOvr>
</p:sld>
</file>

<file path=ppt/theme/theme1.xml><?xml version="1.0" encoding="utf-8"?>
<a:theme xmlns:a="http://schemas.openxmlformats.org/drawingml/2006/main" name="BAIO Exam Prep">
  <a:themeElements>
    <a:clrScheme name="BAIO Exam Prep">
      <a:dk1>
        <a:srgbClr val="0C1830"/>
      </a:dk1>
      <a:lt1>
        <a:srgbClr val="FFFFFF"/>
      </a:lt1>
      <a:dk2>
        <a:srgbClr val="4A5568"/>
      </a:dk2>
      <a:lt2>
        <a:srgbClr val="EEF6F5"/>
      </a:lt2>
      <a:accent1>
        <a:srgbClr val="0B8F80"/>
      </a:accent1>
      <a:accent2>
        <a:srgbClr val="C99A1E"/>
      </a:accent2>
      <a:accent3>
        <a:srgbClr val="D9574C"/>
      </a:accent3>
      <a:accent4>
        <a:srgbClr val="7FB8D6"/>
      </a:accent4>
      <a:accent5>
        <a:srgbClr val="5B3FA8"/>
      </a:accent5>
      <a:accent6>
        <a:srgbClr val="E8F3F1"/>
      </a:accent6>
      <a:hlink>
        <a:srgbClr val="0B8F80"/>
      </a:hlink>
      <a:folHlink>
        <a:srgbClr val="5B3FA8"/>
      </a:folHlink>
    </a:clrScheme>
    <a:fontScheme name="BAIO Exam Pre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BAIO Learning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 PUC Biology Mid-Term 2026 — Topics to Practise &amp; Tips to Score High</dc:title>
  <dc:subject>PptxGenJS Presentation</dc:subject>
  <dc:creator>Narendra Sir</dc:creator>
  <cp:lastModifiedBy>Narendra Sir</cp:lastModifiedBy>
  <cp:revision>1</cp:revision>
  <dcterms:created xsi:type="dcterms:W3CDTF">2026-10-18T05:49:49Z</dcterms:created>
  <dcterms:modified xsi:type="dcterms:W3CDTF">2026-10-18T05:49:49Z</dcterms:modified>
</cp:coreProperties>
</file>